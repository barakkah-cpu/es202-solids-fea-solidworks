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60" r:id="rId3"/>
    <p:sldId id="361" r:id="rId4"/>
    <p:sldId id="345" r:id="rId5"/>
    <p:sldId id="362" r:id="rId6"/>
    <p:sldId id="363" r:id="rId7"/>
    <p:sldId id="391" r:id="rId8"/>
    <p:sldId id="359" r:id="rId9"/>
    <p:sldId id="389" r:id="rId10"/>
    <p:sldId id="364" r:id="rId11"/>
    <p:sldId id="365" r:id="rId12"/>
    <p:sldId id="390" r:id="rId13"/>
    <p:sldId id="367" r:id="rId14"/>
    <p:sldId id="368" r:id="rId15"/>
    <p:sldId id="369" r:id="rId16"/>
    <p:sldId id="370" r:id="rId17"/>
    <p:sldId id="371" r:id="rId18"/>
    <p:sldId id="373" r:id="rId19"/>
    <p:sldId id="372" r:id="rId20"/>
    <p:sldId id="374" r:id="rId21"/>
    <p:sldId id="377" r:id="rId22"/>
    <p:sldId id="375" r:id="rId23"/>
    <p:sldId id="388" r:id="rId24"/>
    <p:sldId id="376" r:id="rId25"/>
    <p:sldId id="378" r:id="rId26"/>
    <p:sldId id="379" r:id="rId27"/>
    <p:sldId id="380" r:id="rId28"/>
    <p:sldId id="382" r:id="rId29"/>
    <p:sldId id="366" r:id="rId30"/>
    <p:sldId id="384" r:id="rId31"/>
    <p:sldId id="385" r:id="rId32"/>
    <p:sldId id="386" r:id="rId33"/>
    <p:sldId id="387" r:id="rId34"/>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2D7B79-A2C1-4EC0-BA98-7B23CAE46F83}" v="3" dt="2026-04-01T04:55:24.4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svg"/></Relationships>
</file>

<file path=ppt/diagrams/_rels/drawing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DD560F-16E5-4E91-9F00-3ED9E1734F6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5C8399A-1548-4A3B-B269-F7176C128414}">
      <dgm:prSet/>
      <dgm:spPr/>
      <dgm:t>
        <a:bodyPr/>
        <a:lstStyle/>
        <a:p>
          <a:pPr>
            <a:lnSpc>
              <a:spcPct val="100000"/>
            </a:lnSpc>
          </a:pPr>
          <a:r>
            <a:rPr lang="en-US" dirty="0"/>
            <a:t>Step 1: </a:t>
          </a:r>
          <a:br>
            <a:rPr lang="en-US" dirty="0"/>
          </a:br>
          <a:r>
            <a:rPr lang="en-US" dirty="0"/>
            <a:t>Measure a STOP sign</a:t>
          </a:r>
        </a:p>
      </dgm:t>
    </dgm:pt>
    <dgm:pt modelId="{E7402EEC-1B23-4535-A86A-E84C3E46FFED}" type="parTrans" cxnId="{5EB63420-8AD5-48A8-9B2C-5ED628FFC100}">
      <dgm:prSet/>
      <dgm:spPr/>
      <dgm:t>
        <a:bodyPr/>
        <a:lstStyle/>
        <a:p>
          <a:endParaRPr lang="en-US"/>
        </a:p>
      </dgm:t>
    </dgm:pt>
    <dgm:pt modelId="{34CFF440-1257-4A10-91A3-A891C2D053C5}" type="sibTrans" cxnId="{5EB63420-8AD5-48A8-9B2C-5ED628FFC100}">
      <dgm:prSet/>
      <dgm:spPr/>
      <dgm:t>
        <a:bodyPr/>
        <a:lstStyle/>
        <a:p>
          <a:endParaRPr lang="en-US"/>
        </a:p>
      </dgm:t>
    </dgm:pt>
    <dgm:pt modelId="{AAA21A73-CC01-428A-A1C0-86EE4D8491D5}">
      <dgm:prSet/>
      <dgm:spPr/>
      <dgm:t>
        <a:bodyPr/>
        <a:lstStyle/>
        <a:p>
          <a:pPr>
            <a:lnSpc>
              <a:spcPct val="100000"/>
            </a:lnSpc>
          </a:pPr>
          <a:r>
            <a:rPr lang="en-US" dirty="0"/>
            <a:t>Step 2:</a:t>
          </a:r>
          <a:br>
            <a:rPr lang="en-US" dirty="0"/>
          </a:br>
          <a:r>
            <a:rPr lang="en-US" dirty="0"/>
            <a:t>Estimate the wind load</a:t>
          </a:r>
        </a:p>
      </dgm:t>
    </dgm:pt>
    <dgm:pt modelId="{8A16FA95-5799-4A2E-8956-1DC6A9AE60FE}" type="parTrans" cxnId="{34057778-B7C9-4B52-9D26-AD398F865F34}">
      <dgm:prSet/>
      <dgm:spPr/>
      <dgm:t>
        <a:bodyPr/>
        <a:lstStyle/>
        <a:p>
          <a:endParaRPr lang="en-US"/>
        </a:p>
      </dgm:t>
    </dgm:pt>
    <dgm:pt modelId="{CA27C625-D2C6-4C3C-BAE4-C795AB96129C}" type="sibTrans" cxnId="{34057778-B7C9-4B52-9D26-AD398F865F34}">
      <dgm:prSet/>
      <dgm:spPr/>
      <dgm:t>
        <a:bodyPr/>
        <a:lstStyle/>
        <a:p>
          <a:endParaRPr lang="en-US"/>
        </a:p>
      </dgm:t>
    </dgm:pt>
    <dgm:pt modelId="{49FA4403-5533-4E2C-B18A-FA06B4C5625A}">
      <dgm:prSet/>
      <dgm:spPr/>
      <dgm:t>
        <a:bodyPr/>
        <a:lstStyle/>
        <a:p>
          <a:pPr>
            <a:lnSpc>
              <a:spcPct val="100000"/>
            </a:lnSpc>
          </a:pPr>
          <a:r>
            <a:rPr lang="en-US" dirty="0"/>
            <a:t>Step 3:</a:t>
          </a:r>
          <a:br>
            <a:rPr lang="en-US" dirty="0"/>
          </a:br>
          <a:r>
            <a:rPr lang="en-US" dirty="0"/>
            <a:t>Design a 2-1/2” Diameter Pole Option</a:t>
          </a:r>
        </a:p>
      </dgm:t>
    </dgm:pt>
    <dgm:pt modelId="{EFAC1615-7980-4058-89BD-DAA3EF37CD5F}" type="parTrans" cxnId="{832C57C0-29B2-4B7D-BC0C-F5BC7A243774}">
      <dgm:prSet/>
      <dgm:spPr/>
      <dgm:t>
        <a:bodyPr/>
        <a:lstStyle/>
        <a:p>
          <a:endParaRPr lang="en-US"/>
        </a:p>
      </dgm:t>
    </dgm:pt>
    <dgm:pt modelId="{035E59E6-9CE1-45B7-B88F-AE67731C1383}" type="sibTrans" cxnId="{832C57C0-29B2-4B7D-BC0C-F5BC7A243774}">
      <dgm:prSet/>
      <dgm:spPr/>
      <dgm:t>
        <a:bodyPr/>
        <a:lstStyle/>
        <a:p>
          <a:endParaRPr lang="en-US"/>
        </a:p>
      </dgm:t>
    </dgm:pt>
    <dgm:pt modelId="{49BD7C25-D754-4D31-BF5B-996DE6A57FC8}">
      <dgm:prSet/>
      <dgm:spPr/>
      <dgm:t>
        <a:bodyPr/>
        <a:lstStyle/>
        <a:p>
          <a:pPr>
            <a:lnSpc>
              <a:spcPct val="100000"/>
            </a:lnSpc>
          </a:pPr>
          <a:r>
            <a:rPr lang="en-US" dirty="0"/>
            <a:t>Step 4: </a:t>
          </a:r>
          <a:br>
            <a:rPr lang="en-US" dirty="0"/>
          </a:br>
          <a:r>
            <a:rPr lang="en-US" dirty="0"/>
            <a:t>Design a Galvanized Steel Rail Option</a:t>
          </a:r>
        </a:p>
      </dgm:t>
    </dgm:pt>
    <dgm:pt modelId="{A48A016E-723D-44B8-92DB-D330D56C53BF}" type="parTrans" cxnId="{4673D2B7-FEFE-4C31-85C2-ACA66E5CF56D}">
      <dgm:prSet/>
      <dgm:spPr/>
      <dgm:t>
        <a:bodyPr/>
        <a:lstStyle/>
        <a:p>
          <a:endParaRPr lang="en-US"/>
        </a:p>
      </dgm:t>
    </dgm:pt>
    <dgm:pt modelId="{5CA278E3-50BC-46DE-B6E1-831458325D60}" type="sibTrans" cxnId="{4673D2B7-FEFE-4C31-85C2-ACA66E5CF56D}">
      <dgm:prSet/>
      <dgm:spPr/>
      <dgm:t>
        <a:bodyPr/>
        <a:lstStyle/>
        <a:p>
          <a:endParaRPr lang="en-US"/>
        </a:p>
      </dgm:t>
    </dgm:pt>
    <dgm:pt modelId="{1247BAE9-1573-491E-8EED-22B3E6CD7ED0}" type="pres">
      <dgm:prSet presAssocID="{34DD560F-16E5-4E91-9F00-3ED9E1734F6B}" presName="root" presStyleCnt="0">
        <dgm:presLayoutVars>
          <dgm:dir/>
          <dgm:resizeHandles val="exact"/>
        </dgm:presLayoutVars>
      </dgm:prSet>
      <dgm:spPr/>
    </dgm:pt>
    <dgm:pt modelId="{0BF23A92-9ABD-4385-80D8-7EF2E99D2C5D}" type="pres">
      <dgm:prSet presAssocID="{45C8399A-1548-4A3B-B269-F7176C128414}" presName="compNode" presStyleCnt="0"/>
      <dgm:spPr/>
    </dgm:pt>
    <dgm:pt modelId="{CF331C46-32B0-44CE-8E5F-4E716DB2139F}" type="pres">
      <dgm:prSet presAssocID="{45C8399A-1548-4A3B-B269-F7176C128414}" presName="bgRect" presStyleLbl="bgShp" presStyleIdx="0" presStyleCnt="4"/>
      <dgm:spPr/>
    </dgm:pt>
    <dgm:pt modelId="{6A982599-2238-412A-B562-D63349FE9EA7}" type="pres">
      <dgm:prSet presAssocID="{45C8399A-1548-4A3B-B269-F7176C128414}"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F695BC9D-749E-455A-9A24-CCB78D165E38}" type="pres">
      <dgm:prSet presAssocID="{45C8399A-1548-4A3B-B269-F7176C128414}" presName="spaceRect" presStyleCnt="0"/>
      <dgm:spPr/>
    </dgm:pt>
    <dgm:pt modelId="{C3C6B62C-4057-4AA8-88CB-9023B8781A8F}" type="pres">
      <dgm:prSet presAssocID="{45C8399A-1548-4A3B-B269-F7176C128414}" presName="parTx" presStyleLbl="revTx" presStyleIdx="0" presStyleCnt="4">
        <dgm:presLayoutVars>
          <dgm:chMax val="0"/>
          <dgm:chPref val="0"/>
        </dgm:presLayoutVars>
      </dgm:prSet>
      <dgm:spPr/>
    </dgm:pt>
    <dgm:pt modelId="{C13FFB7E-1B69-4247-9B28-7C64FA195867}" type="pres">
      <dgm:prSet presAssocID="{34CFF440-1257-4A10-91A3-A891C2D053C5}" presName="sibTrans" presStyleCnt="0"/>
      <dgm:spPr/>
    </dgm:pt>
    <dgm:pt modelId="{C6DD9C74-BDA4-49E7-9DBF-CE88C1142214}" type="pres">
      <dgm:prSet presAssocID="{AAA21A73-CC01-428A-A1C0-86EE4D8491D5}" presName="compNode" presStyleCnt="0"/>
      <dgm:spPr/>
    </dgm:pt>
    <dgm:pt modelId="{120805B3-21FD-4B74-95CE-4EC61D414990}" type="pres">
      <dgm:prSet presAssocID="{AAA21A73-CC01-428A-A1C0-86EE4D8491D5}" presName="bgRect" presStyleLbl="bgShp" presStyleIdx="1" presStyleCnt="4"/>
      <dgm:spPr/>
    </dgm:pt>
    <dgm:pt modelId="{77529A55-E934-462E-A939-A85EE898BCBF}" type="pres">
      <dgm:prSet presAssocID="{AAA21A73-CC01-428A-A1C0-86EE4D8491D5}"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8D7CD0A0-AC23-465D-AFE1-C666CD84E66F}" type="pres">
      <dgm:prSet presAssocID="{AAA21A73-CC01-428A-A1C0-86EE4D8491D5}" presName="spaceRect" presStyleCnt="0"/>
      <dgm:spPr/>
    </dgm:pt>
    <dgm:pt modelId="{3846E0DB-BA00-47E0-BA00-A6FF8557FCED}" type="pres">
      <dgm:prSet presAssocID="{AAA21A73-CC01-428A-A1C0-86EE4D8491D5}" presName="parTx" presStyleLbl="revTx" presStyleIdx="1" presStyleCnt="4">
        <dgm:presLayoutVars>
          <dgm:chMax val="0"/>
          <dgm:chPref val="0"/>
        </dgm:presLayoutVars>
      </dgm:prSet>
      <dgm:spPr/>
    </dgm:pt>
    <dgm:pt modelId="{C162F4BC-7661-4F29-B683-42613EBD599E}" type="pres">
      <dgm:prSet presAssocID="{CA27C625-D2C6-4C3C-BAE4-C795AB96129C}" presName="sibTrans" presStyleCnt="0"/>
      <dgm:spPr/>
    </dgm:pt>
    <dgm:pt modelId="{89FBAB96-FCF2-457A-942F-89C9C71C1B5E}" type="pres">
      <dgm:prSet presAssocID="{49FA4403-5533-4E2C-B18A-FA06B4C5625A}" presName="compNode" presStyleCnt="0"/>
      <dgm:spPr/>
    </dgm:pt>
    <dgm:pt modelId="{6578E907-B68A-4E6A-9DF0-8277B3042566}" type="pres">
      <dgm:prSet presAssocID="{49FA4403-5533-4E2C-B18A-FA06B4C5625A}" presName="bgRect" presStyleLbl="bgShp" presStyleIdx="2" presStyleCnt="4"/>
      <dgm:spPr/>
    </dgm:pt>
    <dgm:pt modelId="{677EE4EE-4304-43EA-9194-E01992F0FE94}" type="pres">
      <dgm:prSet presAssocID="{49FA4403-5533-4E2C-B18A-FA06B4C5625A}" presName="iconRect" presStyleLbl="node1" presStyleIdx="2" presStyleCnt="4"/>
      <dgm:spPr/>
    </dgm:pt>
    <dgm:pt modelId="{9B8FCB43-1986-43AD-8E14-FB13B3700E0E}" type="pres">
      <dgm:prSet presAssocID="{49FA4403-5533-4E2C-B18A-FA06B4C5625A}" presName="spaceRect" presStyleCnt="0"/>
      <dgm:spPr/>
    </dgm:pt>
    <dgm:pt modelId="{3ADAF41D-6BE2-4F95-87A7-B4431DBEFD05}" type="pres">
      <dgm:prSet presAssocID="{49FA4403-5533-4E2C-B18A-FA06B4C5625A}" presName="parTx" presStyleLbl="revTx" presStyleIdx="2" presStyleCnt="4">
        <dgm:presLayoutVars>
          <dgm:chMax val="0"/>
          <dgm:chPref val="0"/>
        </dgm:presLayoutVars>
      </dgm:prSet>
      <dgm:spPr/>
    </dgm:pt>
    <dgm:pt modelId="{A6F6C64C-D067-43C3-BD01-DDAE55459DE7}" type="pres">
      <dgm:prSet presAssocID="{035E59E6-9CE1-45B7-B88F-AE67731C1383}" presName="sibTrans" presStyleCnt="0"/>
      <dgm:spPr/>
    </dgm:pt>
    <dgm:pt modelId="{325B5995-34A0-4F8B-AADE-BB22552E8881}" type="pres">
      <dgm:prSet presAssocID="{49BD7C25-D754-4D31-BF5B-996DE6A57FC8}" presName="compNode" presStyleCnt="0"/>
      <dgm:spPr/>
    </dgm:pt>
    <dgm:pt modelId="{AC35988C-9027-4E92-B465-F2E8BC61CA81}" type="pres">
      <dgm:prSet presAssocID="{49BD7C25-D754-4D31-BF5B-996DE6A57FC8}" presName="bgRect" presStyleLbl="bgShp" presStyleIdx="3" presStyleCnt="4"/>
      <dgm:spPr/>
    </dgm:pt>
    <dgm:pt modelId="{D0AB6D67-E6A1-42F3-8985-CA05A264E645}" type="pres">
      <dgm:prSet presAssocID="{49BD7C25-D754-4D31-BF5B-996DE6A57FC8}" presName="iconRect" presStyleLbl="node1" presStyleIdx="3" presStyleCnt="4"/>
      <dgm:spPr/>
    </dgm:pt>
    <dgm:pt modelId="{4658B4AD-2FA2-4CBB-9501-D813B9C4C214}" type="pres">
      <dgm:prSet presAssocID="{49BD7C25-D754-4D31-BF5B-996DE6A57FC8}" presName="spaceRect" presStyleCnt="0"/>
      <dgm:spPr/>
    </dgm:pt>
    <dgm:pt modelId="{D5FDC004-8FF8-4A2E-AE55-B99280DD59C7}" type="pres">
      <dgm:prSet presAssocID="{49BD7C25-D754-4D31-BF5B-996DE6A57FC8}" presName="parTx" presStyleLbl="revTx" presStyleIdx="3" presStyleCnt="4">
        <dgm:presLayoutVars>
          <dgm:chMax val="0"/>
          <dgm:chPref val="0"/>
        </dgm:presLayoutVars>
      </dgm:prSet>
      <dgm:spPr/>
    </dgm:pt>
  </dgm:ptLst>
  <dgm:cxnLst>
    <dgm:cxn modelId="{5EB63420-8AD5-48A8-9B2C-5ED628FFC100}" srcId="{34DD560F-16E5-4E91-9F00-3ED9E1734F6B}" destId="{45C8399A-1548-4A3B-B269-F7176C128414}" srcOrd="0" destOrd="0" parTransId="{E7402EEC-1B23-4535-A86A-E84C3E46FFED}" sibTransId="{34CFF440-1257-4A10-91A3-A891C2D053C5}"/>
    <dgm:cxn modelId="{5DA2F635-4E56-49E6-8CDD-EF08705746CC}" type="presOf" srcId="{49FA4403-5533-4E2C-B18A-FA06B4C5625A}" destId="{3ADAF41D-6BE2-4F95-87A7-B4431DBEFD05}" srcOrd="0" destOrd="0" presId="urn:microsoft.com/office/officeart/2018/2/layout/IconVerticalSolidList"/>
    <dgm:cxn modelId="{492D4A51-865D-4D1D-9E8F-A45E1E71395E}" type="presOf" srcId="{AAA21A73-CC01-428A-A1C0-86EE4D8491D5}" destId="{3846E0DB-BA00-47E0-BA00-A6FF8557FCED}" srcOrd="0" destOrd="0" presId="urn:microsoft.com/office/officeart/2018/2/layout/IconVerticalSolidList"/>
    <dgm:cxn modelId="{34057778-B7C9-4B52-9D26-AD398F865F34}" srcId="{34DD560F-16E5-4E91-9F00-3ED9E1734F6B}" destId="{AAA21A73-CC01-428A-A1C0-86EE4D8491D5}" srcOrd="1" destOrd="0" parTransId="{8A16FA95-5799-4A2E-8956-1DC6A9AE60FE}" sibTransId="{CA27C625-D2C6-4C3C-BAE4-C795AB96129C}"/>
    <dgm:cxn modelId="{BD41F97E-B3A8-4983-B6AA-1D39E1E1EDBB}" type="presOf" srcId="{45C8399A-1548-4A3B-B269-F7176C128414}" destId="{C3C6B62C-4057-4AA8-88CB-9023B8781A8F}" srcOrd="0" destOrd="0" presId="urn:microsoft.com/office/officeart/2018/2/layout/IconVerticalSolidList"/>
    <dgm:cxn modelId="{04114A99-F754-4C5C-9ACE-636091C58618}" type="presOf" srcId="{34DD560F-16E5-4E91-9F00-3ED9E1734F6B}" destId="{1247BAE9-1573-491E-8EED-22B3E6CD7ED0}" srcOrd="0" destOrd="0" presId="urn:microsoft.com/office/officeart/2018/2/layout/IconVerticalSolidList"/>
    <dgm:cxn modelId="{EE36C5AA-3A97-4E6E-B114-0A23643A14D7}" type="presOf" srcId="{49BD7C25-D754-4D31-BF5B-996DE6A57FC8}" destId="{D5FDC004-8FF8-4A2E-AE55-B99280DD59C7}" srcOrd="0" destOrd="0" presId="urn:microsoft.com/office/officeart/2018/2/layout/IconVerticalSolidList"/>
    <dgm:cxn modelId="{4673D2B7-FEFE-4C31-85C2-ACA66E5CF56D}" srcId="{34DD560F-16E5-4E91-9F00-3ED9E1734F6B}" destId="{49BD7C25-D754-4D31-BF5B-996DE6A57FC8}" srcOrd="3" destOrd="0" parTransId="{A48A016E-723D-44B8-92DB-D330D56C53BF}" sibTransId="{5CA278E3-50BC-46DE-B6E1-831458325D60}"/>
    <dgm:cxn modelId="{832C57C0-29B2-4B7D-BC0C-F5BC7A243774}" srcId="{34DD560F-16E5-4E91-9F00-3ED9E1734F6B}" destId="{49FA4403-5533-4E2C-B18A-FA06B4C5625A}" srcOrd="2" destOrd="0" parTransId="{EFAC1615-7980-4058-89BD-DAA3EF37CD5F}" sibTransId="{035E59E6-9CE1-45B7-B88F-AE67731C1383}"/>
    <dgm:cxn modelId="{3B1EAD7C-FBDD-4BDD-A969-96D631089794}" type="presParOf" srcId="{1247BAE9-1573-491E-8EED-22B3E6CD7ED0}" destId="{0BF23A92-9ABD-4385-80D8-7EF2E99D2C5D}" srcOrd="0" destOrd="0" presId="urn:microsoft.com/office/officeart/2018/2/layout/IconVerticalSolidList"/>
    <dgm:cxn modelId="{C5E4B082-4F42-47D5-9B7B-224DEEB36E12}" type="presParOf" srcId="{0BF23A92-9ABD-4385-80D8-7EF2E99D2C5D}" destId="{CF331C46-32B0-44CE-8E5F-4E716DB2139F}" srcOrd="0" destOrd="0" presId="urn:microsoft.com/office/officeart/2018/2/layout/IconVerticalSolidList"/>
    <dgm:cxn modelId="{B6A65FB7-AA05-4E4A-B204-1275939430FD}" type="presParOf" srcId="{0BF23A92-9ABD-4385-80D8-7EF2E99D2C5D}" destId="{6A982599-2238-412A-B562-D63349FE9EA7}" srcOrd="1" destOrd="0" presId="urn:microsoft.com/office/officeart/2018/2/layout/IconVerticalSolidList"/>
    <dgm:cxn modelId="{B3D2CD06-8421-4A14-9548-452EF729FAA8}" type="presParOf" srcId="{0BF23A92-9ABD-4385-80D8-7EF2E99D2C5D}" destId="{F695BC9D-749E-455A-9A24-CCB78D165E38}" srcOrd="2" destOrd="0" presId="urn:microsoft.com/office/officeart/2018/2/layout/IconVerticalSolidList"/>
    <dgm:cxn modelId="{2A7EB54E-E3F8-4289-8FC4-C26DC4702670}" type="presParOf" srcId="{0BF23A92-9ABD-4385-80D8-7EF2E99D2C5D}" destId="{C3C6B62C-4057-4AA8-88CB-9023B8781A8F}" srcOrd="3" destOrd="0" presId="urn:microsoft.com/office/officeart/2018/2/layout/IconVerticalSolidList"/>
    <dgm:cxn modelId="{9BBA2769-5F40-482A-A598-38C356C8FCBB}" type="presParOf" srcId="{1247BAE9-1573-491E-8EED-22B3E6CD7ED0}" destId="{C13FFB7E-1B69-4247-9B28-7C64FA195867}" srcOrd="1" destOrd="0" presId="urn:microsoft.com/office/officeart/2018/2/layout/IconVerticalSolidList"/>
    <dgm:cxn modelId="{4219E203-4D4D-467E-917C-2576EC9577DA}" type="presParOf" srcId="{1247BAE9-1573-491E-8EED-22B3E6CD7ED0}" destId="{C6DD9C74-BDA4-49E7-9DBF-CE88C1142214}" srcOrd="2" destOrd="0" presId="urn:microsoft.com/office/officeart/2018/2/layout/IconVerticalSolidList"/>
    <dgm:cxn modelId="{71ACC244-2138-4F16-862D-AD8F8A8AFAC5}" type="presParOf" srcId="{C6DD9C74-BDA4-49E7-9DBF-CE88C1142214}" destId="{120805B3-21FD-4B74-95CE-4EC61D414990}" srcOrd="0" destOrd="0" presId="urn:microsoft.com/office/officeart/2018/2/layout/IconVerticalSolidList"/>
    <dgm:cxn modelId="{61C3ABA2-70B6-4E3A-88F2-FA44BD2571AF}" type="presParOf" srcId="{C6DD9C74-BDA4-49E7-9DBF-CE88C1142214}" destId="{77529A55-E934-462E-A939-A85EE898BCBF}" srcOrd="1" destOrd="0" presId="urn:microsoft.com/office/officeart/2018/2/layout/IconVerticalSolidList"/>
    <dgm:cxn modelId="{67A5DF22-D6B6-4362-92D3-339114BCA422}" type="presParOf" srcId="{C6DD9C74-BDA4-49E7-9DBF-CE88C1142214}" destId="{8D7CD0A0-AC23-465D-AFE1-C666CD84E66F}" srcOrd="2" destOrd="0" presId="urn:microsoft.com/office/officeart/2018/2/layout/IconVerticalSolidList"/>
    <dgm:cxn modelId="{DC684274-AF17-4024-8D8F-0F4126C19527}" type="presParOf" srcId="{C6DD9C74-BDA4-49E7-9DBF-CE88C1142214}" destId="{3846E0DB-BA00-47E0-BA00-A6FF8557FCED}" srcOrd="3" destOrd="0" presId="urn:microsoft.com/office/officeart/2018/2/layout/IconVerticalSolidList"/>
    <dgm:cxn modelId="{075336A0-7368-4E2E-987F-FA2A1BB71A8B}" type="presParOf" srcId="{1247BAE9-1573-491E-8EED-22B3E6CD7ED0}" destId="{C162F4BC-7661-4F29-B683-42613EBD599E}" srcOrd="3" destOrd="0" presId="urn:microsoft.com/office/officeart/2018/2/layout/IconVerticalSolidList"/>
    <dgm:cxn modelId="{139B652E-127D-4823-AC81-AC406BCE27B9}" type="presParOf" srcId="{1247BAE9-1573-491E-8EED-22B3E6CD7ED0}" destId="{89FBAB96-FCF2-457A-942F-89C9C71C1B5E}" srcOrd="4" destOrd="0" presId="urn:microsoft.com/office/officeart/2018/2/layout/IconVerticalSolidList"/>
    <dgm:cxn modelId="{F9E1E842-4ACD-47AF-9E26-CEDB50BE053F}" type="presParOf" srcId="{89FBAB96-FCF2-457A-942F-89C9C71C1B5E}" destId="{6578E907-B68A-4E6A-9DF0-8277B3042566}" srcOrd="0" destOrd="0" presId="urn:microsoft.com/office/officeart/2018/2/layout/IconVerticalSolidList"/>
    <dgm:cxn modelId="{B1C70ED8-65ED-4F7A-AFEC-8D42CCD6447B}" type="presParOf" srcId="{89FBAB96-FCF2-457A-942F-89C9C71C1B5E}" destId="{677EE4EE-4304-43EA-9194-E01992F0FE94}" srcOrd="1" destOrd="0" presId="urn:microsoft.com/office/officeart/2018/2/layout/IconVerticalSolidList"/>
    <dgm:cxn modelId="{14797526-7D59-4424-8347-D70B550FF140}" type="presParOf" srcId="{89FBAB96-FCF2-457A-942F-89C9C71C1B5E}" destId="{9B8FCB43-1986-43AD-8E14-FB13B3700E0E}" srcOrd="2" destOrd="0" presId="urn:microsoft.com/office/officeart/2018/2/layout/IconVerticalSolidList"/>
    <dgm:cxn modelId="{A9D32F16-704A-47BE-BA6C-B6D888CB898E}" type="presParOf" srcId="{89FBAB96-FCF2-457A-942F-89C9C71C1B5E}" destId="{3ADAF41D-6BE2-4F95-87A7-B4431DBEFD05}" srcOrd="3" destOrd="0" presId="urn:microsoft.com/office/officeart/2018/2/layout/IconVerticalSolidList"/>
    <dgm:cxn modelId="{86A1E1DE-DC3D-4459-9565-E696289BD6F9}" type="presParOf" srcId="{1247BAE9-1573-491E-8EED-22B3E6CD7ED0}" destId="{A6F6C64C-D067-43C3-BD01-DDAE55459DE7}" srcOrd="5" destOrd="0" presId="urn:microsoft.com/office/officeart/2018/2/layout/IconVerticalSolidList"/>
    <dgm:cxn modelId="{7F9C9A7C-F89A-40D4-9CD8-F12782C74607}" type="presParOf" srcId="{1247BAE9-1573-491E-8EED-22B3E6CD7ED0}" destId="{325B5995-34A0-4F8B-AADE-BB22552E8881}" srcOrd="6" destOrd="0" presId="urn:microsoft.com/office/officeart/2018/2/layout/IconVerticalSolidList"/>
    <dgm:cxn modelId="{DA043B82-6DE7-4FCA-8013-93B6FD002602}" type="presParOf" srcId="{325B5995-34A0-4F8B-AADE-BB22552E8881}" destId="{AC35988C-9027-4E92-B465-F2E8BC61CA81}" srcOrd="0" destOrd="0" presId="urn:microsoft.com/office/officeart/2018/2/layout/IconVerticalSolidList"/>
    <dgm:cxn modelId="{5FEC995C-17A4-4D94-9745-F1BF8C22928F}" type="presParOf" srcId="{325B5995-34A0-4F8B-AADE-BB22552E8881}" destId="{D0AB6D67-E6A1-42F3-8985-CA05A264E645}" srcOrd="1" destOrd="0" presId="urn:microsoft.com/office/officeart/2018/2/layout/IconVerticalSolidList"/>
    <dgm:cxn modelId="{799238B4-DE96-4409-A67A-E039A6EFE8B5}" type="presParOf" srcId="{325B5995-34A0-4F8B-AADE-BB22552E8881}" destId="{4658B4AD-2FA2-4CBB-9501-D813B9C4C214}" srcOrd="2" destOrd="0" presId="urn:microsoft.com/office/officeart/2018/2/layout/IconVerticalSolidList"/>
    <dgm:cxn modelId="{CE5A7A11-52FE-46FD-BDF9-943A2807274D}" type="presParOf" srcId="{325B5995-34A0-4F8B-AADE-BB22552E8881}" destId="{D5FDC004-8FF8-4A2E-AE55-B99280DD59C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87941C-E6EF-4C9F-B550-08AB572C8E37}"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CE7B4CE8-1BDE-4BB4-8992-C0541AD31ACE}">
      <dgm:prSet/>
      <dgm:spPr/>
      <dgm:t>
        <a:bodyPr/>
        <a:lstStyle/>
        <a:p>
          <a:r>
            <a:rPr lang="en-US" dirty="0"/>
            <a:t>Wind loads are described in terms of the pressure and/or the resulting force that develops on a surface exposed to a wind field.</a:t>
          </a:r>
        </a:p>
      </dgm:t>
    </dgm:pt>
    <dgm:pt modelId="{3AB2EDA4-E269-4687-B75C-93D0929FEF85}" type="parTrans" cxnId="{AFDF9F6A-D788-400E-8D99-B6A83157F8C6}">
      <dgm:prSet/>
      <dgm:spPr/>
      <dgm:t>
        <a:bodyPr/>
        <a:lstStyle/>
        <a:p>
          <a:endParaRPr lang="en-US"/>
        </a:p>
      </dgm:t>
    </dgm:pt>
    <dgm:pt modelId="{2E1B0694-BC23-4A36-A56A-FBFD1EE8720A}" type="sibTrans" cxnId="{AFDF9F6A-D788-400E-8D99-B6A83157F8C6}">
      <dgm:prSet/>
      <dgm:spPr/>
      <dgm:t>
        <a:bodyPr/>
        <a:lstStyle/>
        <a:p>
          <a:endParaRPr lang="en-US"/>
        </a:p>
      </dgm:t>
    </dgm:pt>
    <dgm:pt modelId="{4613F910-781E-4C77-AF63-C84A80636030}">
      <dgm:prSet/>
      <dgm:spPr/>
      <dgm:t>
        <a:bodyPr/>
        <a:lstStyle/>
        <a:p>
          <a:r>
            <a:rPr lang="en-US" dirty="0"/>
            <a:t>Three methods to estimate the pressure/force that would be exerted on a STOP sign:</a:t>
          </a:r>
        </a:p>
      </dgm:t>
    </dgm:pt>
    <dgm:pt modelId="{BFF9CD5B-D0ED-4B59-A805-1BA8A7B7FE47}" type="parTrans" cxnId="{F0929986-BD3A-48B6-9FFE-3AA221544753}">
      <dgm:prSet/>
      <dgm:spPr/>
      <dgm:t>
        <a:bodyPr/>
        <a:lstStyle/>
        <a:p>
          <a:endParaRPr lang="en-US"/>
        </a:p>
      </dgm:t>
    </dgm:pt>
    <dgm:pt modelId="{CB3E5AEF-7C6B-4867-9046-3C0F622A464F}" type="sibTrans" cxnId="{F0929986-BD3A-48B6-9FFE-3AA221544753}">
      <dgm:prSet/>
      <dgm:spPr/>
      <dgm:t>
        <a:bodyPr/>
        <a:lstStyle/>
        <a:p>
          <a:endParaRPr lang="en-US"/>
        </a:p>
      </dgm:t>
    </dgm:pt>
    <dgm:pt modelId="{87E8CA31-11DD-4182-AA12-4C4095196C3D}">
      <dgm:prSet/>
      <dgm:spPr/>
      <dgm:t>
        <a:bodyPr/>
        <a:lstStyle/>
        <a:p>
          <a:r>
            <a:rPr lang="en-US" dirty="0"/>
            <a:t>Bluff Body Drag Equations (from AE 201)</a:t>
          </a:r>
        </a:p>
      </dgm:t>
    </dgm:pt>
    <dgm:pt modelId="{C73A1163-41B2-48F9-A2B8-083D0148297A}" type="parTrans" cxnId="{AB4C56C2-7226-4399-B586-E87B0F4F6B21}">
      <dgm:prSet/>
      <dgm:spPr/>
      <dgm:t>
        <a:bodyPr/>
        <a:lstStyle/>
        <a:p>
          <a:endParaRPr lang="en-US"/>
        </a:p>
      </dgm:t>
    </dgm:pt>
    <dgm:pt modelId="{4C73168F-DB97-49B2-B403-355EA4F57C8A}" type="sibTrans" cxnId="{AB4C56C2-7226-4399-B586-E87B0F4F6B21}">
      <dgm:prSet/>
      <dgm:spPr/>
      <dgm:t>
        <a:bodyPr/>
        <a:lstStyle/>
        <a:p>
          <a:endParaRPr lang="en-US"/>
        </a:p>
      </dgm:t>
    </dgm:pt>
    <dgm:pt modelId="{AA927B50-A2FB-4A7D-BD25-458C7A8F7ECD}">
      <dgm:prSet/>
      <dgm:spPr/>
      <dgm:t>
        <a:bodyPr/>
        <a:lstStyle/>
        <a:p>
          <a:r>
            <a:rPr lang="en-US" dirty="0"/>
            <a:t>What would a physicist or aerospace engineer do?</a:t>
          </a:r>
        </a:p>
      </dgm:t>
    </dgm:pt>
    <dgm:pt modelId="{6A282BBE-CE85-471E-B442-8C6483FD6AC6}" type="parTrans" cxnId="{CDCEFF62-C158-46A3-83F8-E260919AB21A}">
      <dgm:prSet/>
      <dgm:spPr/>
      <dgm:t>
        <a:bodyPr/>
        <a:lstStyle/>
        <a:p>
          <a:endParaRPr lang="en-US"/>
        </a:p>
      </dgm:t>
    </dgm:pt>
    <dgm:pt modelId="{0857FB2A-367D-449B-BC71-3BF87CBE30D3}" type="sibTrans" cxnId="{CDCEFF62-C158-46A3-83F8-E260919AB21A}">
      <dgm:prSet/>
      <dgm:spPr/>
      <dgm:t>
        <a:bodyPr/>
        <a:lstStyle/>
        <a:p>
          <a:endParaRPr lang="en-US"/>
        </a:p>
      </dgm:t>
    </dgm:pt>
    <dgm:pt modelId="{5AA93876-230F-474D-A22F-9D0CE01AA515}">
      <dgm:prSet/>
      <dgm:spPr/>
      <dgm:t>
        <a:bodyPr/>
        <a:lstStyle/>
        <a:p>
          <a:r>
            <a:rPr lang="en-US" dirty="0"/>
            <a:t>Codified procedure from ASCE 7 (CIV 304)</a:t>
          </a:r>
        </a:p>
      </dgm:t>
    </dgm:pt>
    <dgm:pt modelId="{F24930F7-04CD-48D3-9516-D4DDA75A9CE2}" type="parTrans" cxnId="{2B8E12FB-073A-427E-9C52-C2729DD5AFB6}">
      <dgm:prSet/>
      <dgm:spPr/>
      <dgm:t>
        <a:bodyPr/>
        <a:lstStyle/>
        <a:p>
          <a:endParaRPr lang="en-US"/>
        </a:p>
      </dgm:t>
    </dgm:pt>
    <dgm:pt modelId="{3482F0F9-599C-4581-BC0A-FAC8C61A6C6D}" type="sibTrans" cxnId="{2B8E12FB-073A-427E-9C52-C2729DD5AFB6}">
      <dgm:prSet/>
      <dgm:spPr/>
      <dgm:t>
        <a:bodyPr/>
        <a:lstStyle/>
        <a:p>
          <a:endParaRPr lang="en-US"/>
        </a:p>
      </dgm:t>
    </dgm:pt>
    <dgm:pt modelId="{E6A67465-745F-4381-BE9E-F8C5503BCC95}">
      <dgm:prSet/>
      <dgm:spPr/>
      <dgm:t>
        <a:bodyPr/>
        <a:lstStyle/>
        <a:p>
          <a:r>
            <a:rPr lang="en-US"/>
            <a:t>What would a practicing professional do?</a:t>
          </a:r>
        </a:p>
      </dgm:t>
    </dgm:pt>
    <dgm:pt modelId="{CE16C347-5769-4E14-BBEB-F2C3407D64C0}" type="parTrans" cxnId="{1C54B5CD-BC75-46E2-B71B-811A01B38675}">
      <dgm:prSet/>
      <dgm:spPr/>
      <dgm:t>
        <a:bodyPr/>
        <a:lstStyle/>
        <a:p>
          <a:endParaRPr lang="en-US"/>
        </a:p>
      </dgm:t>
    </dgm:pt>
    <dgm:pt modelId="{D008C0BD-48E7-40D1-9A6A-FA52C7902C87}" type="sibTrans" cxnId="{1C54B5CD-BC75-46E2-B71B-811A01B38675}">
      <dgm:prSet/>
      <dgm:spPr/>
      <dgm:t>
        <a:bodyPr/>
        <a:lstStyle/>
        <a:p>
          <a:endParaRPr lang="en-US"/>
        </a:p>
      </dgm:t>
    </dgm:pt>
    <dgm:pt modelId="{0027D1EE-5A6F-4925-9FD4-CF6ABA0BD604}">
      <dgm:prSet/>
      <dgm:spPr/>
      <dgm:t>
        <a:bodyPr/>
        <a:lstStyle/>
        <a:p>
          <a:r>
            <a:rPr lang="en-US" dirty="0"/>
            <a:t>Computational Fluid Dynamics (AE 610)</a:t>
          </a:r>
        </a:p>
      </dgm:t>
    </dgm:pt>
    <dgm:pt modelId="{C8CFEF07-3056-4355-BE7B-6EA4015173B3}" type="parTrans" cxnId="{DACFB3F0-6736-4302-976B-67696EBB93E5}">
      <dgm:prSet/>
      <dgm:spPr/>
      <dgm:t>
        <a:bodyPr/>
        <a:lstStyle/>
        <a:p>
          <a:endParaRPr lang="en-US"/>
        </a:p>
      </dgm:t>
    </dgm:pt>
    <dgm:pt modelId="{AC92C8BD-C389-4C6E-ADCA-DE06BE97F0C0}" type="sibTrans" cxnId="{DACFB3F0-6736-4302-976B-67696EBB93E5}">
      <dgm:prSet/>
      <dgm:spPr/>
      <dgm:t>
        <a:bodyPr/>
        <a:lstStyle/>
        <a:p>
          <a:endParaRPr lang="en-US"/>
        </a:p>
      </dgm:t>
    </dgm:pt>
    <dgm:pt modelId="{87EC1DBF-1B67-445A-A7E8-9D061BF962D1}">
      <dgm:prSet/>
      <dgm:spPr/>
      <dgm:t>
        <a:bodyPr/>
        <a:lstStyle/>
        <a:p>
          <a:r>
            <a:rPr lang="en-US"/>
            <a:t>What would a graduate student in engineering do? </a:t>
          </a:r>
        </a:p>
      </dgm:t>
    </dgm:pt>
    <dgm:pt modelId="{52AEEF03-86E8-47C3-88CC-6F269111EFC2}" type="parTrans" cxnId="{31AD33A5-C162-402C-AEE3-9F4DD38CB0D6}">
      <dgm:prSet/>
      <dgm:spPr/>
      <dgm:t>
        <a:bodyPr/>
        <a:lstStyle/>
        <a:p>
          <a:endParaRPr lang="en-US"/>
        </a:p>
      </dgm:t>
    </dgm:pt>
    <dgm:pt modelId="{71A233E7-DB32-4EAE-9E5D-1EC38289E0FA}" type="sibTrans" cxnId="{31AD33A5-C162-402C-AEE3-9F4DD38CB0D6}">
      <dgm:prSet/>
      <dgm:spPr/>
      <dgm:t>
        <a:bodyPr/>
        <a:lstStyle/>
        <a:p>
          <a:endParaRPr lang="en-US"/>
        </a:p>
      </dgm:t>
    </dgm:pt>
    <dgm:pt modelId="{252ABEC5-1F2F-498E-A23A-4520B86EE24C}">
      <dgm:prSet/>
      <dgm:spPr/>
      <dgm:t>
        <a:bodyPr/>
        <a:lstStyle/>
        <a:p>
          <a:r>
            <a:rPr lang="en-US" dirty="0"/>
            <a:t>For this step, you will pick two of these methods (I do NOT recommend CFD!) and then compare the results.  You will also use a generic AI chat tool (e.g., ChatGPT or Gemini) to obtain a third estimate.</a:t>
          </a:r>
        </a:p>
      </dgm:t>
    </dgm:pt>
    <dgm:pt modelId="{E3D7E42A-474F-41F4-96D7-3BAC4E8B4DA4}" type="parTrans" cxnId="{F4290354-9002-43C8-B32A-089D9488AFCE}">
      <dgm:prSet/>
      <dgm:spPr/>
      <dgm:t>
        <a:bodyPr/>
        <a:lstStyle/>
        <a:p>
          <a:endParaRPr lang="en-US"/>
        </a:p>
      </dgm:t>
    </dgm:pt>
    <dgm:pt modelId="{2459BA4D-6518-4808-85B9-B35BCA833746}" type="sibTrans" cxnId="{F4290354-9002-43C8-B32A-089D9488AFCE}">
      <dgm:prSet/>
      <dgm:spPr/>
      <dgm:t>
        <a:bodyPr/>
        <a:lstStyle/>
        <a:p>
          <a:endParaRPr lang="en-US"/>
        </a:p>
      </dgm:t>
    </dgm:pt>
    <dgm:pt modelId="{699AF362-893F-4FD2-BB22-D39908E2DF7C}" type="pres">
      <dgm:prSet presAssocID="{B187941C-E6EF-4C9F-B550-08AB572C8E37}" presName="Name0" presStyleCnt="0">
        <dgm:presLayoutVars>
          <dgm:dir/>
          <dgm:animLvl val="lvl"/>
          <dgm:resizeHandles val="exact"/>
        </dgm:presLayoutVars>
      </dgm:prSet>
      <dgm:spPr/>
    </dgm:pt>
    <dgm:pt modelId="{2B4BC326-CA16-423C-8C39-178307DC1053}" type="pres">
      <dgm:prSet presAssocID="{252ABEC5-1F2F-498E-A23A-4520B86EE24C}" presName="boxAndChildren" presStyleCnt="0"/>
      <dgm:spPr/>
    </dgm:pt>
    <dgm:pt modelId="{8BB213A7-BD5C-4AB1-8B22-FB16F6BE64EC}" type="pres">
      <dgm:prSet presAssocID="{252ABEC5-1F2F-498E-A23A-4520B86EE24C}" presName="parentTextBox" presStyleLbl="node1" presStyleIdx="0" presStyleCnt="3"/>
      <dgm:spPr/>
    </dgm:pt>
    <dgm:pt modelId="{5CC0F29E-80FD-4F57-8ADF-E8C46F13EA87}" type="pres">
      <dgm:prSet presAssocID="{CB3E5AEF-7C6B-4867-9046-3C0F622A464F}" presName="sp" presStyleCnt="0"/>
      <dgm:spPr/>
    </dgm:pt>
    <dgm:pt modelId="{3BE6C972-2755-4088-835F-704A34FCAE64}" type="pres">
      <dgm:prSet presAssocID="{4613F910-781E-4C77-AF63-C84A80636030}" presName="arrowAndChildren" presStyleCnt="0"/>
      <dgm:spPr/>
    </dgm:pt>
    <dgm:pt modelId="{2FCE42E1-5294-4926-A560-BDF73E411571}" type="pres">
      <dgm:prSet presAssocID="{4613F910-781E-4C77-AF63-C84A80636030}" presName="parentTextArrow" presStyleLbl="node1" presStyleIdx="0" presStyleCnt="3"/>
      <dgm:spPr/>
    </dgm:pt>
    <dgm:pt modelId="{F903E9CE-1EB4-4504-A3B4-153F7D7FF54F}" type="pres">
      <dgm:prSet presAssocID="{4613F910-781E-4C77-AF63-C84A80636030}" presName="arrow" presStyleLbl="node1" presStyleIdx="1" presStyleCnt="3"/>
      <dgm:spPr/>
    </dgm:pt>
    <dgm:pt modelId="{D3A0020B-7B73-4D5C-8D28-4488EAFA1423}" type="pres">
      <dgm:prSet presAssocID="{4613F910-781E-4C77-AF63-C84A80636030}" presName="descendantArrow" presStyleCnt="0"/>
      <dgm:spPr/>
    </dgm:pt>
    <dgm:pt modelId="{DF1B48B2-464D-4934-9A5C-0F622F99081A}" type="pres">
      <dgm:prSet presAssocID="{87E8CA31-11DD-4182-AA12-4C4095196C3D}" presName="childTextArrow" presStyleLbl="fgAccFollowNode1" presStyleIdx="0" presStyleCnt="3">
        <dgm:presLayoutVars>
          <dgm:bulletEnabled val="1"/>
        </dgm:presLayoutVars>
      </dgm:prSet>
      <dgm:spPr/>
    </dgm:pt>
    <dgm:pt modelId="{6B15064D-3F2F-42FD-86AD-A30DEE61352F}" type="pres">
      <dgm:prSet presAssocID="{5AA93876-230F-474D-A22F-9D0CE01AA515}" presName="childTextArrow" presStyleLbl="fgAccFollowNode1" presStyleIdx="1" presStyleCnt="3">
        <dgm:presLayoutVars>
          <dgm:bulletEnabled val="1"/>
        </dgm:presLayoutVars>
      </dgm:prSet>
      <dgm:spPr/>
    </dgm:pt>
    <dgm:pt modelId="{7EF55B0F-32DF-4683-96B2-8356F0D0C4EB}" type="pres">
      <dgm:prSet presAssocID="{0027D1EE-5A6F-4925-9FD4-CF6ABA0BD604}" presName="childTextArrow" presStyleLbl="fgAccFollowNode1" presStyleIdx="2" presStyleCnt="3">
        <dgm:presLayoutVars>
          <dgm:bulletEnabled val="1"/>
        </dgm:presLayoutVars>
      </dgm:prSet>
      <dgm:spPr/>
    </dgm:pt>
    <dgm:pt modelId="{B1ED5C11-4D76-44F4-8305-914070E30A55}" type="pres">
      <dgm:prSet presAssocID="{2E1B0694-BC23-4A36-A56A-FBFD1EE8720A}" presName="sp" presStyleCnt="0"/>
      <dgm:spPr/>
    </dgm:pt>
    <dgm:pt modelId="{32419C7A-8F7A-49AE-8BA7-30A61DC7765B}" type="pres">
      <dgm:prSet presAssocID="{CE7B4CE8-1BDE-4BB4-8992-C0541AD31ACE}" presName="arrowAndChildren" presStyleCnt="0"/>
      <dgm:spPr/>
    </dgm:pt>
    <dgm:pt modelId="{CE051F0D-44E9-4B38-ACA2-A390B61CB536}" type="pres">
      <dgm:prSet presAssocID="{CE7B4CE8-1BDE-4BB4-8992-C0541AD31ACE}" presName="parentTextArrow" presStyleLbl="node1" presStyleIdx="2" presStyleCnt="3"/>
      <dgm:spPr/>
    </dgm:pt>
  </dgm:ptLst>
  <dgm:cxnLst>
    <dgm:cxn modelId="{F7323D22-1E3F-43FD-A0A9-C32A67A5192C}" type="presOf" srcId="{87EC1DBF-1B67-445A-A7E8-9D061BF962D1}" destId="{7EF55B0F-32DF-4683-96B2-8356F0D0C4EB}" srcOrd="0" destOrd="1" presId="urn:microsoft.com/office/officeart/2005/8/layout/process4"/>
    <dgm:cxn modelId="{D7B94923-3968-4777-9D7C-CB7EC0063E0D}" type="presOf" srcId="{E6A67465-745F-4381-BE9E-F8C5503BCC95}" destId="{6B15064D-3F2F-42FD-86AD-A30DEE61352F}" srcOrd="0" destOrd="1" presId="urn:microsoft.com/office/officeart/2005/8/layout/process4"/>
    <dgm:cxn modelId="{67BC6E33-64D1-468A-8506-147A0F06E0B9}" type="presOf" srcId="{4613F910-781E-4C77-AF63-C84A80636030}" destId="{F903E9CE-1EB4-4504-A3B4-153F7D7FF54F}" srcOrd="1" destOrd="0" presId="urn:microsoft.com/office/officeart/2005/8/layout/process4"/>
    <dgm:cxn modelId="{CDCEFF62-C158-46A3-83F8-E260919AB21A}" srcId="{87E8CA31-11DD-4182-AA12-4C4095196C3D}" destId="{AA927B50-A2FB-4A7D-BD25-458C7A8F7ECD}" srcOrd="0" destOrd="0" parTransId="{6A282BBE-CE85-471E-B442-8C6483FD6AC6}" sibTransId="{0857FB2A-367D-449B-BC71-3BF87CBE30D3}"/>
    <dgm:cxn modelId="{B88BCD47-B7D6-4DC6-AA37-EE835234D5A2}" type="presOf" srcId="{5AA93876-230F-474D-A22F-9D0CE01AA515}" destId="{6B15064D-3F2F-42FD-86AD-A30DEE61352F}" srcOrd="0" destOrd="0" presId="urn:microsoft.com/office/officeart/2005/8/layout/process4"/>
    <dgm:cxn modelId="{AFDF9F6A-D788-400E-8D99-B6A83157F8C6}" srcId="{B187941C-E6EF-4C9F-B550-08AB572C8E37}" destId="{CE7B4CE8-1BDE-4BB4-8992-C0541AD31ACE}" srcOrd="0" destOrd="0" parTransId="{3AB2EDA4-E269-4687-B75C-93D0929FEF85}" sibTransId="{2E1B0694-BC23-4A36-A56A-FBFD1EE8720A}"/>
    <dgm:cxn modelId="{FC56C24B-9F93-4095-A36D-AD32FAD755FE}" type="presOf" srcId="{B187941C-E6EF-4C9F-B550-08AB572C8E37}" destId="{699AF362-893F-4FD2-BB22-D39908E2DF7C}" srcOrd="0" destOrd="0" presId="urn:microsoft.com/office/officeart/2005/8/layout/process4"/>
    <dgm:cxn modelId="{F4290354-9002-43C8-B32A-089D9488AFCE}" srcId="{B187941C-E6EF-4C9F-B550-08AB572C8E37}" destId="{252ABEC5-1F2F-498E-A23A-4520B86EE24C}" srcOrd="2" destOrd="0" parTransId="{E3D7E42A-474F-41F4-96D7-3BAC4E8B4DA4}" sibTransId="{2459BA4D-6518-4808-85B9-B35BCA833746}"/>
    <dgm:cxn modelId="{D5F9F955-AF21-48BE-B415-59A70B679E1B}" type="presOf" srcId="{CE7B4CE8-1BDE-4BB4-8992-C0541AD31ACE}" destId="{CE051F0D-44E9-4B38-ACA2-A390B61CB536}" srcOrd="0" destOrd="0" presId="urn:microsoft.com/office/officeart/2005/8/layout/process4"/>
    <dgm:cxn modelId="{14F6F677-A37F-4C07-A38A-8895993D391F}" type="presOf" srcId="{87E8CA31-11DD-4182-AA12-4C4095196C3D}" destId="{DF1B48B2-464D-4934-9A5C-0F622F99081A}" srcOrd="0" destOrd="0" presId="urn:microsoft.com/office/officeart/2005/8/layout/process4"/>
    <dgm:cxn modelId="{F0929986-BD3A-48B6-9FFE-3AA221544753}" srcId="{B187941C-E6EF-4C9F-B550-08AB572C8E37}" destId="{4613F910-781E-4C77-AF63-C84A80636030}" srcOrd="1" destOrd="0" parTransId="{BFF9CD5B-D0ED-4B59-A805-1BA8A7B7FE47}" sibTransId="{CB3E5AEF-7C6B-4867-9046-3C0F622A464F}"/>
    <dgm:cxn modelId="{1474D698-DB88-43EA-80EC-383F43FC447C}" type="presOf" srcId="{4613F910-781E-4C77-AF63-C84A80636030}" destId="{2FCE42E1-5294-4926-A560-BDF73E411571}" srcOrd="0" destOrd="0" presId="urn:microsoft.com/office/officeart/2005/8/layout/process4"/>
    <dgm:cxn modelId="{31AD33A5-C162-402C-AEE3-9F4DD38CB0D6}" srcId="{0027D1EE-5A6F-4925-9FD4-CF6ABA0BD604}" destId="{87EC1DBF-1B67-445A-A7E8-9D061BF962D1}" srcOrd="0" destOrd="0" parTransId="{52AEEF03-86E8-47C3-88CC-6F269111EFC2}" sibTransId="{71A233E7-DB32-4EAE-9E5D-1EC38289E0FA}"/>
    <dgm:cxn modelId="{A84C09AC-27C9-40D8-8B4F-590E74F3446C}" type="presOf" srcId="{252ABEC5-1F2F-498E-A23A-4520B86EE24C}" destId="{8BB213A7-BD5C-4AB1-8B22-FB16F6BE64EC}" srcOrd="0" destOrd="0" presId="urn:microsoft.com/office/officeart/2005/8/layout/process4"/>
    <dgm:cxn modelId="{AB4C56C2-7226-4399-B586-E87B0F4F6B21}" srcId="{4613F910-781E-4C77-AF63-C84A80636030}" destId="{87E8CA31-11DD-4182-AA12-4C4095196C3D}" srcOrd="0" destOrd="0" parTransId="{C73A1163-41B2-48F9-A2B8-083D0148297A}" sibTransId="{4C73168F-DB97-49B2-B403-355EA4F57C8A}"/>
    <dgm:cxn modelId="{1C54B5CD-BC75-46E2-B71B-811A01B38675}" srcId="{5AA93876-230F-474D-A22F-9D0CE01AA515}" destId="{E6A67465-745F-4381-BE9E-F8C5503BCC95}" srcOrd="0" destOrd="0" parTransId="{CE16C347-5769-4E14-BBEB-F2C3407D64C0}" sibTransId="{D008C0BD-48E7-40D1-9A6A-FA52C7902C87}"/>
    <dgm:cxn modelId="{BA5F39DC-5675-46A3-9581-3F5C0A0269E8}" type="presOf" srcId="{0027D1EE-5A6F-4925-9FD4-CF6ABA0BD604}" destId="{7EF55B0F-32DF-4683-96B2-8356F0D0C4EB}" srcOrd="0" destOrd="0" presId="urn:microsoft.com/office/officeart/2005/8/layout/process4"/>
    <dgm:cxn modelId="{DACFB3F0-6736-4302-976B-67696EBB93E5}" srcId="{4613F910-781E-4C77-AF63-C84A80636030}" destId="{0027D1EE-5A6F-4925-9FD4-CF6ABA0BD604}" srcOrd="2" destOrd="0" parTransId="{C8CFEF07-3056-4355-BE7B-6EA4015173B3}" sibTransId="{AC92C8BD-C389-4C6E-ADCA-DE06BE97F0C0}"/>
    <dgm:cxn modelId="{9DBCC3F0-9B8A-4904-959C-0B3F1F5749C1}" type="presOf" srcId="{AA927B50-A2FB-4A7D-BD25-458C7A8F7ECD}" destId="{DF1B48B2-464D-4934-9A5C-0F622F99081A}" srcOrd="0" destOrd="1" presId="urn:microsoft.com/office/officeart/2005/8/layout/process4"/>
    <dgm:cxn modelId="{2B8E12FB-073A-427E-9C52-C2729DD5AFB6}" srcId="{4613F910-781E-4C77-AF63-C84A80636030}" destId="{5AA93876-230F-474D-A22F-9D0CE01AA515}" srcOrd="1" destOrd="0" parTransId="{F24930F7-04CD-48D3-9516-D4DDA75A9CE2}" sibTransId="{3482F0F9-599C-4581-BC0A-FAC8C61A6C6D}"/>
    <dgm:cxn modelId="{2E4D0E12-D09F-49C0-BA11-FC69CCEC6B09}" type="presParOf" srcId="{699AF362-893F-4FD2-BB22-D39908E2DF7C}" destId="{2B4BC326-CA16-423C-8C39-178307DC1053}" srcOrd="0" destOrd="0" presId="urn:microsoft.com/office/officeart/2005/8/layout/process4"/>
    <dgm:cxn modelId="{63D164E0-5A7D-4D75-9802-FD3D4CD5A428}" type="presParOf" srcId="{2B4BC326-CA16-423C-8C39-178307DC1053}" destId="{8BB213A7-BD5C-4AB1-8B22-FB16F6BE64EC}" srcOrd="0" destOrd="0" presId="urn:microsoft.com/office/officeart/2005/8/layout/process4"/>
    <dgm:cxn modelId="{A8C7FA91-FD90-4C60-9C5E-BC36ACFA60C9}" type="presParOf" srcId="{699AF362-893F-4FD2-BB22-D39908E2DF7C}" destId="{5CC0F29E-80FD-4F57-8ADF-E8C46F13EA87}" srcOrd="1" destOrd="0" presId="urn:microsoft.com/office/officeart/2005/8/layout/process4"/>
    <dgm:cxn modelId="{19D00542-A36F-4DAD-952E-11168376A13B}" type="presParOf" srcId="{699AF362-893F-4FD2-BB22-D39908E2DF7C}" destId="{3BE6C972-2755-4088-835F-704A34FCAE64}" srcOrd="2" destOrd="0" presId="urn:microsoft.com/office/officeart/2005/8/layout/process4"/>
    <dgm:cxn modelId="{AE211E6E-E190-443B-A2F9-4350A9536311}" type="presParOf" srcId="{3BE6C972-2755-4088-835F-704A34FCAE64}" destId="{2FCE42E1-5294-4926-A560-BDF73E411571}" srcOrd="0" destOrd="0" presId="urn:microsoft.com/office/officeart/2005/8/layout/process4"/>
    <dgm:cxn modelId="{EA35C3CE-C3DB-4E09-BD02-C36300C06416}" type="presParOf" srcId="{3BE6C972-2755-4088-835F-704A34FCAE64}" destId="{F903E9CE-1EB4-4504-A3B4-153F7D7FF54F}" srcOrd="1" destOrd="0" presId="urn:microsoft.com/office/officeart/2005/8/layout/process4"/>
    <dgm:cxn modelId="{D6EF12D7-C894-44EB-AD4A-77844B0AA69B}" type="presParOf" srcId="{3BE6C972-2755-4088-835F-704A34FCAE64}" destId="{D3A0020B-7B73-4D5C-8D28-4488EAFA1423}" srcOrd="2" destOrd="0" presId="urn:microsoft.com/office/officeart/2005/8/layout/process4"/>
    <dgm:cxn modelId="{2EFBBE1C-57A0-45D6-8EB5-7470DC1294F8}" type="presParOf" srcId="{D3A0020B-7B73-4D5C-8D28-4488EAFA1423}" destId="{DF1B48B2-464D-4934-9A5C-0F622F99081A}" srcOrd="0" destOrd="0" presId="urn:microsoft.com/office/officeart/2005/8/layout/process4"/>
    <dgm:cxn modelId="{8C64A234-8186-44BD-BAD0-50AB1BE99316}" type="presParOf" srcId="{D3A0020B-7B73-4D5C-8D28-4488EAFA1423}" destId="{6B15064D-3F2F-42FD-86AD-A30DEE61352F}" srcOrd="1" destOrd="0" presId="urn:microsoft.com/office/officeart/2005/8/layout/process4"/>
    <dgm:cxn modelId="{5907F13A-0E19-4FC9-B817-0802259FA565}" type="presParOf" srcId="{D3A0020B-7B73-4D5C-8D28-4488EAFA1423}" destId="{7EF55B0F-32DF-4683-96B2-8356F0D0C4EB}" srcOrd="2" destOrd="0" presId="urn:microsoft.com/office/officeart/2005/8/layout/process4"/>
    <dgm:cxn modelId="{759EA8A5-C00D-40C5-B65D-FF626C8A309B}" type="presParOf" srcId="{699AF362-893F-4FD2-BB22-D39908E2DF7C}" destId="{B1ED5C11-4D76-44F4-8305-914070E30A55}" srcOrd="3" destOrd="0" presId="urn:microsoft.com/office/officeart/2005/8/layout/process4"/>
    <dgm:cxn modelId="{CEB45CB7-5CA2-41C2-BC78-E8E9D0B2F933}" type="presParOf" srcId="{699AF362-893F-4FD2-BB22-D39908E2DF7C}" destId="{32419C7A-8F7A-49AE-8BA7-30A61DC7765B}" srcOrd="4" destOrd="0" presId="urn:microsoft.com/office/officeart/2005/8/layout/process4"/>
    <dgm:cxn modelId="{C6047A58-4531-4EBD-B450-8BA3693B4411}" type="presParOf" srcId="{32419C7A-8F7A-49AE-8BA7-30A61DC7765B}" destId="{CE051F0D-44E9-4B38-ACA2-A390B61CB53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331C46-32B0-44CE-8E5F-4E716DB2139F}">
      <dsp:nvSpPr>
        <dsp:cNvPr id="0" name=""/>
        <dsp:cNvSpPr/>
      </dsp:nvSpPr>
      <dsp:spPr>
        <a:xfrm>
          <a:off x="0" y="2439"/>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982599-2238-412A-B562-D63349FE9EA7}">
      <dsp:nvSpPr>
        <dsp:cNvPr id="0" name=""/>
        <dsp:cNvSpPr/>
      </dsp:nvSpPr>
      <dsp:spPr>
        <a:xfrm>
          <a:off x="374076" y="280678"/>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C6B62C-4057-4AA8-88CB-9023B8781A8F}">
      <dsp:nvSpPr>
        <dsp:cNvPr id="0" name=""/>
        <dsp:cNvSpPr/>
      </dsp:nvSpPr>
      <dsp:spPr>
        <a:xfrm>
          <a:off x="1428292" y="2439"/>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100000"/>
            </a:lnSpc>
            <a:spcBef>
              <a:spcPct val="0"/>
            </a:spcBef>
            <a:spcAft>
              <a:spcPct val="35000"/>
            </a:spcAft>
            <a:buNone/>
          </a:pPr>
          <a:r>
            <a:rPr lang="en-US" sz="2200" kern="1200" dirty="0"/>
            <a:t>Step 1: </a:t>
          </a:r>
          <a:br>
            <a:rPr lang="en-US" sz="2200" kern="1200" dirty="0"/>
          </a:br>
          <a:r>
            <a:rPr lang="en-US" sz="2200" kern="1200" dirty="0"/>
            <a:t>Measure a STOP sign</a:t>
          </a:r>
        </a:p>
      </dsp:txBody>
      <dsp:txXfrm>
        <a:off x="1428292" y="2439"/>
        <a:ext cx="4873308" cy="1236616"/>
      </dsp:txXfrm>
    </dsp:sp>
    <dsp:sp modelId="{120805B3-21FD-4B74-95CE-4EC61D414990}">
      <dsp:nvSpPr>
        <dsp:cNvPr id="0" name=""/>
        <dsp:cNvSpPr/>
      </dsp:nvSpPr>
      <dsp:spPr>
        <a:xfrm>
          <a:off x="0" y="1548210"/>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529A55-E934-462E-A939-A85EE898BCBF}">
      <dsp:nvSpPr>
        <dsp:cNvPr id="0" name=""/>
        <dsp:cNvSpPr/>
      </dsp:nvSpPr>
      <dsp:spPr>
        <a:xfrm>
          <a:off x="374076" y="1826449"/>
          <a:ext cx="680139" cy="6801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46E0DB-BA00-47E0-BA00-A6FF8557FCED}">
      <dsp:nvSpPr>
        <dsp:cNvPr id="0" name=""/>
        <dsp:cNvSpPr/>
      </dsp:nvSpPr>
      <dsp:spPr>
        <a:xfrm>
          <a:off x="1428292" y="1548210"/>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100000"/>
            </a:lnSpc>
            <a:spcBef>
              <a:spcPct val="0"/>
            </a:spcBef>
            <a:spcAft>
              <a:spcPct val="35000"/>
            </a:spcAft>
            <a:buNone/>
          </a:pPr>
          <a:r>
            <a:rPr lang="en-US" sz="2200" kern="1200" dirty="0"/>
            <a:t>Step 2:</a:t>
          </a:r>
          <a:br>
            <a:rPr lang="en-US" sz="2200" kern="1200" dirty="0"/>
          </a:br>
          <a:r>
            <a:rPr lang="en-US" sz="2200" kern="1200" dirty="0"/>
            <a:t>Estimate the wind load</a:t>
          </a:r>
        </a:p>
      </dsp:txBody>
      <dsp:txXfrm>
        <a:off x="1428292" y="1548210"/>
        <a:ext cx="4873308" cy="1236616"/>
      </dsp:txXfrm>
    </dsp:sp>
    <dsp:sp modelId="{6578E907-B68A-4E6A-9DF0-8277B3042566}">
      <dsp:nvSpPr>
        <dsp:cNvPr id="0" name=""/>
        <dsp:cNvSpPr/>
      </dsp:nvSpPr>
      <dsp:spPr>
        <a:xfrm>
          <a:off x="0" y="3093981"/>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7EE4EE-4304-43EA-9194-E01992F0FE94}">
      <dsp:nvSpPr>
        <dsp:cNvPr id="0" name=""/>
        <dsp:cNvSpPr/>
      </dsp:nvSpPr>
      <dsp:spPr>
        <a:xfrm>
          <a:off x="374076" y="3372220"/>
          <a:ext cx="680139" cy="680139"/>
        </a:xfrm>
        <a:prstGeom prst="rect">
          <a:avLst/>
        </a:prstGeom>
        <a:solidFill>
          <a:schemeClr val="accent4">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DAF41D-6BE2-4F95-87A7-B4431DBEFD05}">
      <dsp:nvSpPr>
        <dsp:cNvPr id="0" name=""/>
        <dsp:cNvSpPr/>
      </dsp:nvSpPr>
      <dsp:spPr>
        <a:xfrm>
          <a:off x="1428292" y="3093981"/>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100000"/>
            </a:lnSpc>
            <a:spcBef>
              <a:spcPct val="0"/>
            </a:spcBef>
            <a:spcAft>
              <a:spcPct val="35000"/>
            </a:spcAft>
            <a:buNone/>
          </a:pPr>
          <a:r>
            <a:rPr lang="en-US" sz="2200" kern="1200" dirty="0"/>
            <a:t>Step 3:</a:t>
          </a:r>
          <a:br>
            <a:rPr lang="en-US" sz="2200" kern="1200" dirty="0"/>
          </a:br>
          <a:r>
            <a:rPr lang="en-US" sz="2200" kern="1200" dirty="0"/>
            <a:t>Design a 2-1/2” Diameter Pole Option</a:t>
          </a:r>
        </a:p>
      </dsp:txBody>
      <dsp:txXfrm>
        <a:off x="1428292" y="3093981"/>
        <a:ext cx="4873308" cy="1236616"/>
      </dsp:txXfrm>
    </dsp:sp>
    <dsp:sp modelId="{AC35988C-9027-4E92-B465-F2E8BC61CA81}">
      <dsp:nvSpPr>
        <dsp:cNvPr id="0" name=""/>
        <dsp:cNvSpPr/>
      </dsp:nvSpPr>
      <dsp:spPr>
        <a:xfrm>
          <a:off x="0" y="4639752"/>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AB6D67-E6A1-42F3-8985-CA05A264E645}">
      <dsp:nvSpPr>
        <dsp:cNvPr id="0" name=""/>
        <dsp:cNvSpPr/>
      </dsp:nvSpPr>
      <dsp:spPr>
        <a:xfrm>
          <a:off x="374076" y="4917991"/>
          <a:ext cx="680139" cy="680139"/>
        </a:xfrm>
        <a:prstGeom prst="rect">
          <a:avLst/>
        </a:prstGeom>
        <a:solidFill>
          <a:schemeClr val="accent5">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FDC004-8FF8-4A2E-AE55-B99280DD59C7}">
      <dsp:nvSpPr>
        <dsp:cNvPr id="0" name=""/>
        <dsp:cNvSpPr/>
      </dsp:nvSpPr>
      <dsp:spPr>
        <a:xfrm>
          <a:off x="1428292" y="4639752"/>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100000"/>
            </a:lnSpc>
            <a:spcBef>
              <a:spcPct val="0"/>
            </a:spcBef>
            <a:spcAft>
              <a:spcPct val="35000"/>
            </a:spcAft>
            <a:buNone/>
          </a:pPr>
          <a:r>
            <a:rPr lang="en-US" sz="2200" kern="1200" dirty="0"/>
            <a:t>Step 4: </a:t>
          </a:r>
          <a:br>
            <a:rPr lang="en-US" sz="2200" kern="1200" dirty="0"/>
          </a:br>
          <a:r>
            <a:rPr lang="en-US" sz="2200" kern="1200" dirty="0"/>
            <a:t>Design a Galvanized Steel Rail Option</a:t>
          </a:r>
        </a:p>
      </dsp:txBody>
      <dsp:txXfrm>
        <a:off x="1428292" y="4639752"/>
        <a:ext cx="4873308" cy="12366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B213A7-BD5C-4AB1-8B22-FB16F6BE64EC}">
      <dsp:nvSpPr>
        <dsp:cNvPr id="0" name=""/>
        <dsp:cNvSpPr/>
      </dsp:nvSpPr>
      <dsp:spPr>
        <a:xfrm>
          <a:off x="0" y="3156146"/>
          <a:ext cx="10927829" cy="103591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t>For this step, you will pick two of these methods (I do NOT recommend CFD!) and then compare the results.  You will also use a generic AI chat tool (e.g., ChatGPT or Gemini) to obtain a third estimate.</a:t>
          </a:r>
        </a:p>
      </dsp:txBody>
      <dsp:txXfrm>
        <a:off x="0" y="3156146"/>
        <a:ext cx="10927829" cy="1035917"/>
      </dsp:txXfrm>
    </dsp:sp>
    <dsp:sp modelId="{F903E9CE-1EB4-4504-A3B4-153F7D7FF54F}">
      <dsp:nvSpPr>
        <dsp:cNvPr id="0" name=""/>
        <dsp:cNvSpPr/>
      </dsp:nvSpPr>
      <dsp:spPr>
        <a:xfrm rot="10800000">
          <a:off x="0" y="1578443"/>
          <a:ext cx="10927829" cy="1593241"/>
        </a:xfrm>
        <a:prstGeom prst="upArrowCallou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t>Three methods to estimate the pressure/force that would be exerted on a STOP sign:</a:t>
          </a:r>
        </a:p>
      </dsp:txBody>
      <dsp:txXfrm rot="-10800000">
        <a:off x="0" y="1578443"/>
        <a:ext cx="10927829" cy="559227"/>
      </dsp:txXfrm>
    </dsp:sp>
    <dsp:sp modelId="{DF1B48B2-464D-4934-9A5C-0F622F99081A}">
      <dsp:nvSpPr>
        <dsp:cNvPr id="0" name=""/>
        <dsp:cNvSpPr/>
      </dsp:nvSpPr>
      <dsp:spPr>
        <a:xfrm>
          <a:off x="5335" y="2137671"/>
          <a:ext cx="3639052" cy="47637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t" anchorCtr="0">
          <a:noAutofit/>
        </a:bodyPr>
        <a:lstStyle/>
        <a:p>
          <a:pPr marL="0" lvl="0" indent="0" algn="l" defTabSz="622300">
            <a:lnSpc>
              <a:spcPct val="90000"/>
            </a:lnSpc>
            <a:spcBef>
              <a:spcPct val="0"/>
            </a:spcBef>
            <a:spcAft>
              <a:spcPct val="35000"/>
            </a:spcAft>
            <a:buNone/>
          </a:pPr>
          <a:r>
            <a:rPr lang="en-US" sz="1400" kern="1200" dirty="0"/>
            <a:t>Bluff Body Drag Equations (from AE 201)</a:t>
          </a:r>
        </a:p>
        <a:p>
          <a:pPr marL="57150" lvl="1" indent="-57150" algn="l" defTabSz="488950">
            <a:lnSpc>
              <a:spcPct val="90000"/>
            </a:lnSpc>
            <a:spcBef>
              <a:spcPct val="0"/>
            </a:spcBef>
            <a:spcAft>
              <a:spcPct val="15000"/>
            </a:spcAft>
            <a:buChar char="•"/>
          </a:pPr>
          <a:r>
            <a:rPr lang="en-US" sz="1100" kern="1200" dirty="0"/>
            <a:t>What would a physicist or aerospace engineer do?</a:t>
          </a:r>
        </a:p>
      </dsp:txBody>
      <dsp:txXfrm>
        <a:off x="5335" y="2137671"/>
        <a:ext cx="3639052" cy="476379"/>
      </dsp:txXfrm>
    </dsp:sp>
    <dsp:sp modelId="{6B15064D-3F2F-42FD-86AD-A30DEE61352F}">
      <dsp:nvSpPr>
        <dsp:cNvPr id="0" name=""/>
        <dsp:cNvSpPr/>
      </dsp:nvSpPr>
      <dsp:spPr>
        <a:xfrm>
          <a:off x="3644388" y="2137671"/>
          <a:ext cx="3639052" cy="476379"/>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t" anchorCtr="0">
          <a:noAutofit/>
        </a:bodyPr>
        <a:lstStyle/>
        <a:p>
          <a:pPr marL="0" lvl="0" indent="0" algn="l" defTabSz="622300">
            <a:lnSpc>
              <a:spcPct val="90000"/>
            </a:lnSpc>
            <a:spcBef>
              <a:spcPct val="0"/>
            </a:spcBef>
            <a:spcAft>
              <a:spcPct val="35000"/>
            </a:spcAft>
            <a:buNone/>
          </a:pPr>
          <a:r>
            <a:rPr lang="en-US" sz="1400" kern="1200" dirty="0"/>
            <a:t>Codified procedure from ASCE 7 (CIV 304)</a:t>
          </a:r>
        </a:p>
        <a:p>
          <a:pPr marL="57150" lvl="1" indent="-57150" algn="l" defTabSz="488950">
            <a:lnSpc>
              <a:spcPct val="90000"/>
            </a:lnSpc>
            <a:spcBef>
              <a:spcPct val="0"/>
            </a:spcBef>
            <a:spcAft>
              <a:spcPct val="15000"/>
            </a:spcAft>
            <a:buChar char="•"/>
          </a:pPr>
          <a:r>
            <a:rPr lang="en-US" sz="1100" kern="1200"/>
            <a:t>What would a practicing professional do?</a:t>
          </a:r>
        </a:p>
      </dsp:txBody>
      <dsp:txXfrm>
        <a:off x="3644388" y="2137671"/>
        <a:ext cx="3639052" cy="476379"/>
      </dsp:txXfrm>
    </dsp:sp>
    <dsp:sp modelId="{7EF55B0F-32DF-4683-96B2-8356F0D0C4EB}">
      <dsp:nvSpPr>
        <dsp:cNvPr id="0" name=""/>
        <dsp:cNvSpPr/>
      </dsp:nvSpPr>
      <dsp:spPr>
        <a:xfrm>
          <a:off x="7283440" y="2137671"/>
          <a:ext cx="3639052" cy="476379"/>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t" anchorCtr="0">
          <a:noAutofit/>
        </a:bodyPr>
        <a:lstStyle/>
        <a:p>
          <a:pPr marL="0" lvl="0" indent="0" algn="l" defTabSz="622300">
            <a:lnSpc>
              <a:spcPct val="90000"/>
            </a:lnSpc>
            <a:spcBef>
              <a:spcPct val="0"/>
            </a:spcBef>
            <a:spcAft>
              <a:spcPct val="35000"/>
            </a:spcAft>
            <a:buNone/>
          </a:pPr>
          <a:r>
            <a:rPr lang="en-US" sz="1400" kern="1200" dirty="0"/>
            <a:t>Computational Fluid Dynamics (AE 610)</a:t>
          </a:r>
        </a:p>
        <a:p>
          <a:pPr marL="57150" lvl="1" indent="-57150" algn="l" defTabSz="488950">
            <a:lnSpc>
              <a:spcPct val="90000"/>
            </a:lnSpc>
            <a:spcBef>
              <a:spcPct val="0"/>
            </a:spcBef>
            <a:spcAft>
              <a:spcPct val="15000"/>
            </a:spcAft>
            <a:buChar char="•"/>
          </a:pPr>
          <a:r>
            <a:rPr lang="en-US" sz="1100" kern="1200"/>
            <a:t>What would a graduate student in engineering do? </a:t>
          </a:r>
        </a:p>
      </dsp:txBody>
      <dsp:txXfrm>
        <a:off x="7283440" y="2137671"/>
        <a:ext cx="3639052" cy="476379"/>
      </dsp:txXfrm>
    </dsp:sp>
    <dsp:sp modelId="{CE051F0D-44E9-4B38-ACA2-A390B61CB536}">
      <dsp:nvSpPr>
        <dsp:cNvPr id="0" name=""/>
        <dsp:cNvSpPr/>
      </dsp:nvSpPr>
      <dsp:spPr>
        <a:xfrm rot="10800000">
          <a:off x="0" y="741"/>
          <a:ext cx="10927829" cy="1593241"/>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t>Wind loads are described in terms of the pressure and/or the resulting force that develops on a surface exposed to a wind field.</a:t>
          </a:r>
        </a:p>
      </dsp:txBody>
      <dsp:txXfrm rot="10800000">
        <a:off x="0" y="741"/>
        <a:ext cx="10927829" cy="103524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25D46-A9A5-805B-E9C6-542CDD2020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73A99E-0516-6D1A-F10D-1E38CB9C6C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69BAE6-9708-7894-C1D4-86878249746D}"/>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5" name="Footer Placeholder 4">
            <a:extLst>
              <a:ext uri="{FF2B5EF4-FFF2-40B4-BE49-F238E27FC236}">
                <a16:creationId xmlns:a16="http://schemas.microsoft.com/office/drawing/2014/main" id="{E36EA118-6672-20AA-8837-7326858528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E6FEDA-2741-099E-B04F-765D388721C3}"/>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2446642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296E9-BC7F-4F2E-C3FA-AAAEAF4999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5D2ECD-6561-B124-C4D0-EC331759C5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B9F52-4416-1509-6C71-86DD49638768}"/>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5" name="Footer Placeholder 4">
            <a:extLst>
              <a:ext uri="{FF2B5EF4-FFF2-40B4-BE49-F238E27FC236}">
                <a16:creationId xmlns:a16="http://schemas.microsoft.com/office/drawing/2014/main" id="{8132660A-5504-2D0E-AED1-A6A1B905B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569BDF-AD21-E4D4-2DF9-6C2DE7099D01}"/>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3311312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D0C1B-96D9-5E26-4348-92177898E8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068EFE-0740-B2DB-763E-464BACA9F7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F842C8-7160-3504-A92A-51EC58A05EA1}"/>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5" name="Footer Placeholder 4">
            <a:extLst>
              <a:ext uri="{FF2B5EF4-FFF2-40B4-BE49-F238E27FC236}">
                <a16:creationId xmlns:a16="http://schemas.microsoft.com/office/drawing/2014/main" id="{2AA50FC5-0687-5A23-81B8-A09BB4E474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B065B7-A152-3CDC-977C-845146B58AD3}"/>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159184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97D40-6ACF-9342-9ADB-A2EDB75CCD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BF53A4-1A8C-6A46-9868-BFC8C469AD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A243D-4552-3914-088C-2765CF8D36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E82E24-3DFD-AB22-F03F-7AA2A05E5626}"/>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6" name="Footer Placeholder 5">
            <a:extLst>
              <a:ext uri="{FF2B5EF4-FFF2-40B4-BE49-F238E27FC236}">
                <a16:creationId xmlns:a16="http://schemas.microsoft.com/office/drawing/2014/main" id="{17949032-88A6-F7C1-A5F0-069F50431E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1D8F2C-DCF7-4B6B-4089-A8220ADFD60F}"/>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1724398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BDF16-7CFE-5F4F-3D53-E7FE853DA7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C994357-D835-E838-9C9E-1CF0A34F99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764256-CE17-725F-13CC-3778A6E705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6EFED6-886A-6E92-145B-1589C10CB5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6D3484-B5B3-2FEF-F32A-D347E15CA1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AE23B2-7597-160A-7C34-B053B3166633}"/>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8" name="Footer Placeholder 7">
            <a:extLst>
              <a:ext uri="{FF2B5EF4-FFF2-40B4-BE49-F238E27FC236}">
                <a16:creationId xmlns:a16="http://schemas.microsoft.com/office/drawing/2014/main" id="{7070C4AB-8716-8E5D-42F8-992AE694AA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137D10-F8A9-14A0-6B51-582D90700CC1}"/>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1240506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3BF4B-1E4B-B06F-6431-E1485D58AD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F5BFE1-F1BD-60ED-26D8-3B2A09CE0EA3}"/>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4" name="Footer Placeholder 3">
            <a:extLst>
              <a:ext uri="{FF2B5EF4-FFF2-40B4-BE49-F238E27FC236}">
                <a16:creationId xmlns:a16="http://schemas.microsoft.com/office/drawing/2014/main" id="{9825AEBE-E6BA-475D-1C90-F9A589ABBB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1F25FF-7354-7EBF-03E2-00B90179883D}"/>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3849499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AFCC82-9BE3-7DA0-E0B6-AC000C387C55}"/>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3" name="Footer Placeholder 2">
            <a:extLst>
              <a:ext uri="{FF2B5EF4-FFF2-40B4-BE49-F238E27FC236}">
                <a16:creationId xmlns:a16="http://schemas.microsoft.com/office/drawing/2014/main" id="{A3871516-262C-F0B3-2912-8D4493F1AE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194A82-80E8-547C-6A9B-0B3A60FAF5A9}"/>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3452367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0123E-50AB-AF24-E01D-432DC0F2A0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7F7FCD-DC01-CA1B-946A-51EC23F3F5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C85934-5DC3-D5EF-9057-FEE7A2B3A9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E1C45A-F39C-5F6B-BE55-99F70AF0AF61}"/>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6" name="Footer Placeholder 5">
            <a:extLst>
              <a:ext uri="{FF2B5EF4-FFF2-40B4-BE49-F238E27FC236}">
                <a16:creationId xmlns:a16="http://schemas.microsoft.com/office/drawing/2014/main" id="{18E3BE3D-839F-2BBD-FC98-90F9586855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D02E5E-8610-27E1-8BCE-B990A212EF10}"/>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1767928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29160-6F37-EAF4-5C96-3AA8F14B7B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105C11-1D2C-22B0-E70B-2A93359C5B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492B70-6F4E-19C9-F04A-24CD0426A0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8C8061-85AE-4C41-C9BB-D9977810EB84}"/>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6" name="Footer Placeholder 5">
            <a:extLst>
              <a:ext uri="{FF2B5EF4-FFF2-40B4-BE49-F238E27FC236}">
                <a16:creationId xmlns:a16="http://schemas.microsoft.com/office/drawing/2014/main" id="{5D2D5332-889C-5E92-5B68-A9EF3D4D67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8C748-2EB5-7D4D-B689-E2853C5EC13A}"/>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3884603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CFCE0-EB17-292B-1962-20B1A6E024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6A972D-18EA-6807-F8EF-94F6042BAC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271528-974E-21D4-06D0-C267809970D5}"/>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5" name="Footer Placeholder 4">
            <a:extLst>
              <a:ext uri="{FF2B5EF4-FFF2-40B4-BE49-F238E27FC236}">
                <a16:creationId xmlns:a16="http://schemas.microsoft.com/office/drawing/2014/main" id="{5C394FA3-41F6-18E8-437A-95ADE80F18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BFA0BE-531D-02D6-2F07-707C3DE7592D}"/>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4113540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15D4F9-1397-40F6-B8DA-062E12DDAA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EB3251-1924-3521-A8E2-B79057586A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B3893E-B2AC-5676-8488-8404BAA17D80}"/>
              </a:ext>
            </a:extLst>
          </p:cNvPr>
          <p:cNvSpPr>
            <a:spLocks noGrp="1"/>
          </p:cNvSpPr>
          <p:nvPr>
            <p:ph type="dt" sz="half" idx="10"/>
          </p:nvPr>
        </p:nvSpPr>
        <p:spPr/>
        <p:txBody>
          <a:bodyPr/>
          <a:lstStyle/>
          <a:p>
            <a:fld id="{B7855D73-2A08-4EDA-B5E6-0312BC97341F}" type="datetimeFigureOut">
              <a:rPr lang="en-US" smtClean="0"/>
              <a:t>6/15/2026</a:t>
            </a:fld>
            <a:endParaRPr lang="en-US"/>
          </a:p>
        </p:txBody>
      </p:sp>
      <p:sp>
        <p:nvSpPr>
          <p:cNvPr id="5" name="Footer Placeholder 4">
            <a:extLst>
              <a:ext uri="{FF2B5EF4-FFF2-40B4-BE49-F238E27FC236}">
                <a16:creationId xmlns:a16="http://schemas.microsoft.com/office/drawing/2014/main" id="{37A2D666-290E-4ABF-E826-5E7AE4DE9F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0AAB20-09A9-B304-5A77-FF134C21BC18}"/>
              </a:ext>
            </a:extLst>
          </p:cNvPr>
          <p:cNvSpPr>
            <a:spLocks noGrp="1"/>
          </p:cNvSpPr>
          <p:nvPr>
            <p:ph type="sldNum" sz="quarter" idx="12"/>
          </p:nvPr>
        </p:nvSpPr>
        <p:spPr/>
        <p:txBody>
          <a:bodyPr/>
          <a:lstStyle/>
          <a:p>
            <a:fld id="{FB689A47-778C-4FDF-8840-9A1F2402DC29}" type="slidenum">
              <a:rPr lang="en-US" smtClean="0"/>
              <a:t>‹#›</a:t>
            </a:fld>
            <a:endParaRPr lang="en-US"/>
          </a:p>
        </p:txBody>
      </p:sp>
    </p:spTree>
    <p:extLst>
      <p:ext uri="{BB962C8B-B14F-4D97-AF65-F5344CB8AC3E}">
        <p14:creationId xmlns:p14="http://schemas.microsoft.com/office/powerpoint/2010/main" val="3190257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2E8ABC-06BB-96FD-AFE0-38BEACBB6B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D318B9-A714-23FB-B1D6-FA79470152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D5D402-EEA2-ED88-F677-A202296D0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855D73-2A08-4EDA-B5E6-0312BC97341F}" type="datetimeFigureOut">
              <a:rPr lang="en-US" smtClean="0"/>
              <a:t>6/15/2026</a:t>
            </a:fld>
            <a:endParaRPr lang="en-US"/>
          </a:p>
        </p:txBody>
      </p:sp>
      <p:sp>
        <p:nvSpPr>
          <p:cNvPr id="5" name="Footer Placeholder 4">
            <a:extLst>
              <a:ext uri="{FF2B5EF4-FFF2-40B4-BE49-F238E27FC236}">
                <a16:creationId xmlns:a16="http://schemas.microsoft.com/office/drawing/2014/main" id="{AB79C8EE-56B1-7981-373D-4BA46E8C12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54BD903-BD3D-7AD1-AAEE-0EF4C29772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689A47-778C-4FDF-8840-9A1F2402DC29}" type="slidenum">
              <a:rPr lang="en-US" smtClean="0"/>
              <a:t>‹#›</a:t>
            </a:fld>
            <a:endParaRPr lang="en-US"/>
          </a:p>
        </p:txBody>
      </p:sp>
    </p:spTree>
    <p:extLst>
      <p:ext uri="{BB962C8B-B14F-4D97-AF65-F5344CB8AC3E}">
        <p14:creationId xmlns:p14="http://schemas.microsoft.com/office/powerpoint/2010/main" val="3226576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mutcd.fhwa.dot.gov/htm/2003r1/part2/part2b1.ht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C33E64-D4AD-E2A6-DD6B-84ABF6ABF4C1}"/>
              </a:ext>
            </a:extLst>
          </p:cNvPr>
          <p:cNvSpPr>
            <a:spLocks noGrp="1"/>
          </p:cNvSpPr>
          <p:nvPr>
            <p:ph type="ctrTitle"/>
          </p:nvPr>
        </p:nvSpPr>
        <p:spPr>
          <a:xfrm>
            <a:off x="1329766" y="1146412"/>
            <a:ext cx="9014348" cy="2402006"/>
          </a:xfrm>
        </p:spPr>
        <p:txBody>
          <a:bodyPr anchor="b">
            <a:normAutofit fontScale="90000"/>
          </a:bodyPr>
          <a:lstStyle/>
          <a:p>
            <a:pPr algn="l"/>
            <a:br>
              <a:rPr lang="en-US" sz="4800" dirty="0"/>
            </a:br>
            <a:r>
              <a:rPr lang="en-US" sz="4800" dirty="0"/>
              <a:t>Mini-Project #2</a:t>
            </a:r>
            <a:br>
              <a:rPr lang="en-US" sz="4800" dirty="0"/>
            </a:br>
            <a:r>
              <a:rPr lang="en-US" sz="4800" dirty="0"/>
              <a:t>Application of</a:t>
            </a:r>
            <a:br>
              <a:rPr lang="en-US" sz="4800" dirty="0"/>
            </a:br>
            <a:r>
              <a:rPr lang="en-US" sz="4800" dirty="0"/>
              <a:t>Finite Element Analysis</a:t>
            </a:r>
            <a:br>
              <a:rPr lang="en-US" sz="4800" dirty="0"/>
            </a:br>
            <a:r>
              <a:rPr lang="en-US" sz="4800" dirty="0"/>
              <a:t>to a Simple Structural System</a:t>
            </a:r>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694B87C2-9701-085A-91B6-2D798EF0C012}"/>
              </a:ext>
            </a:extLst>
          </p:cNvPr>
          <p:cNvSpPr>
            <a:spLocks noGrp="1"/>
          </p:cNvSpPr>
          <p:nvPr>
            <p:ph type="subTitle" idx="1"/>
          </p:nvPr>
        </p:nvSpPr>
        <p:spPr>
          <a:xfrm>
            <a:off x="184253" y="5077189"/>
            <a:ext cx="8226217" cy="1078173"/>
          </a:xfrm>
        </p:spPr>
        <p:txBody>
          <a:bodyPr anchor="ctr">
            <a:normAutofit/>
          </a:bodyPr>
          <a:lstStyle/>
          <a:p>
            <a:pPr algn="l"/>
            <a:r>
              <a:rPr lang="en-US" dirty="0">
                <a:solidFill>
                  <a:srgbClr val="FFFFFF"/>
                </a:solidFill>
              </a:rPr>
              <a:t>Moving analysis to the real world</a:t>
            </a:r>
          </a:p>
          <a:p>
            <a:pPr algn="l"/>
            <a:r>
              <a:rPr lang="en-US" dirty="0">
                <a:solidFill>
                  <a:srgbClr val="FFFFFF"/>
                </a:solidFill>
              </a:rPr>
              <a:t>Steps 1 &amp; 2: Measurements and Wind Load</a:t>
            </a:r>
          </a:p>
        </p:txBody>
      </p:sp>
    </p:spTree>
    <p:extLst>
      <p:ext uri="{BB962C8B-B14F-4D97-AF65-F5344CB8AC3E}">
        <p14:creationId xmlns:p14="http://schemas.microsoft.com/office/powerpoint/2010/main" val="3356168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A061BA2E-A388-41C5-B73A-B0FEB6B10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08FCB72-B5A2-5AC1-555C-964B23B66D31}"/>
              </a:ext>
            </a:extLst>
          </p:cNvPr>
          <p:cNvPicPr>
            <a:picLocks noChangeAspect="1"/>
          </p:cNvPicPr>
          <p:nvPr/>
        </p:nvPicPr>
        <p:blipFill>
          <a:blip r:embed="rId2"/>
          <a:srcRect b="15625"/>
          <a:stretch>
            <a:fillRect/>
          </a:stretch>
        </p:blipFill>
        <p:spPr>
          <a:xfrm>
            <a:off x="-1" y="10"/>
            <a:ext cx="6096001" cy="6857990"/>
          </a:xfrm>
          <a:prstGeom prst="rect">
            <a:avLst/>
          </a:prstGeom>
        </p:spPr>
      </p:pic>
      <p:pic>
        <p:nvPicPr>
          <p:cNvPr id="5" name="Picture 4">
            <a:extLst>
              <a:ext uri="{FF2B5EF4-FFF2-40B4-BE49-F238E27FC236}">
                <a16:creationId xmlns:a16="http://schemas.microsoft.com/office/drawing/2014/main" id="{64D63B1B-9E1B-F43A-98B8-C6A3383BB725}"/>
              </a:ext>
            </a:extLst>
          </p:cNvPr>
          <p:cNvPicPr>
            <a:picLocks noChangeAspect="1"/>
          </p:cNvPicPr>
          <p:nvPr/>
        </p:nvPicPr>
        <p:blipFill>
          <a:blip r:embed="rId3"/>
          <a:srcRect b="15604"/>
          <a:stretch>
            <a:fillRect/>
          </a:stretch>
        </p:blipFill>
        <p:spPr>
          <a:xfrm>
            <a:off x="6094476" y="10"/>
            <a:ext cx="6094477" cy="6857990"/>
          </a:xfrm>
          <a:prstGeom prst="rect">
            <a:avLst/>
          </a:prstGeom>
        </p:spPr>
      </p:pic>
      <p:sp>
        <p:nvSpPr>
          <p:cNvPr id="1042" name="Rectangle 1041">
            <a:extLst>
              <a:ext uri="{FF2B5EF4-FFF2-40B4-BE49-F238E27FC236}">
                <a16:creationId xmlns:a16="http://schemas.microsoft.com/office/drawing/2014/main" id="{76E192A2-3ED3-4081-8A86-A22B5114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52902" y="-1181101"/>
            <a:ext cx="3886200" cy="12192001"/>
          </a:xfrm>
          <a:prstGeom prst="rect">
            <a:avLst/>
          </a:prstGeom>
          <a:gradFill>
            <a:gsLst>
              <a:gs pos="41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46EE44A-54C1-8EEE-A019-729D27C09AC3}"/>
              </a:ext>
            </a:extLst>
          </p:cNvPr>
          <p:cNvSpPr>
            <a:spLocks noGrp="1"/>
          </p:cNvSpPr>
          <p:nvPr>
            <p:ph type="title"/>
          </p:nvPr>
        </p:nvSpPr>
        <p:spPr>
          <a:xfrm>
            <a:off x="404553" y="3091928"/>
            <a:ext cx="9079991" cy="2387600"/>
          </a:xfrm>
        </p:spPr>
        <p:txBody>
          <a:bodyPr vert="horz" lIns="91440" tIns="45720" rIns="91440" bIns="45720" rtlCol="0" anchor="b">
            <a:normAutofit/>
          </a:bodyPr>
          <a:lstStyle/>
          <a:p>
            <a:r>
              <a:rPr lang="en-US" sz="7200" kern="1200">
                <a:solidFill>
                  <a:schemeClr val="bg1"/>
                </a:solidFill>
                <a:latin typeface="+mj-lt"/>
                <a:ea typeface="+mj-ea"/>
                <a:cs typeface="+mj-cs"/>
              </a:rPr>
              <a:t>Context</a:t>
            </a:r>
          </a:p>
        </p:txBody>
      </p:sp>
      <p:sp>
        <p:nvSpPr>
          <p:cNvPr id="1044" name="Rectangle: Rounded Corners 1043">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575039"/>
            <a:ext cx="97840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sp>
        <p:nvSpPr>
          <p:cNvPr id="3" name="Content Placeholder 2">
            <a:extLst>
              <a:ext uri="{FF2B5EF4-FFF2-40B4-BE49-F238E27FC236}">
                <a16:creationId xmlns:a16="http://schemas.microsoft.com/office/drawing/2014/main" id="{45010CF2-E00A-DA4B-3359-7D7C2166FE0C}"/>
              </a:ext>
            </a:extLst>
          </p:cNvPr>
          <p:cNvSpPr>
            <a:spLocks noGrp="1"/>
          </p:cNvSpPr>
          <p:nvPr>
            <p:ph idx="1"/>
          </p:nvPr>
        </p:nvSpPr>
        <p:spPr>
          <a:xfrm>
            <a:off x="404552" y="5624945"/>
            <a:ext cx="9079992" cy="592975"/>
          </a:xfrm>
        </p:spPr>
        <p:txBody>
          <a:bodyPr vert="horz" lIns="91440" tIns="45720" rIns="91440" bIns="45720" rtlCol="0" anchor="ctr">
            <a:normAutofit/>
          </a:bodyPr>
          <a:lstStyle/>
          <a:p>
            <a:pPr marL="0" indent="0">
              <a:buNone/>
            </a:pPr>
            <a:r>
              <a:rPr lang="en-US" kern="1200" dirty="0">
                <a:solidFill>
                  <a:schemeClr val="bg1"/>
                </a:solidFill>
                <a:latin typeface="+mn-lt"/>
                <a:ea typeface="+mn-ea"/>
                <a:cs typeface="+mn-cs"/>
              </a:rPr>
              <a:t>We rely on them every day… the humble STOP sign.</a:t>
            </a:r>
          </a:p>
        </p:txBody>
      </p:sp>
    </p:spTree>
    <p:extLst>
      <p:ext uri="{BB962C8B-B14F-4D97-AF65-F5344CB8AC3E}">
        <p14:creationId xmlns:p14="http://schemas.microsoft.com/office/powerpoint/2010/main" val="3171693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2DAA6C16-BF9B-4A3E-BC70-EE6015D4F9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89A270-4A76-3009-BF9B-CAD6ED153EBD}"/>
              </a:ext>
            </a:extLst>
          </p:cNvPr>
          <p:cNvSpPr>
            <a:spLocks noGrp="1"/>
          </p:cNvSpPr>
          <p:nvPr>
            <p:ph type="title"/>
          </p:nvPr>
        </p:nvSpPr>
        <p:spPr>
          <a:xfrm>
            <a:off x="838200" y="4669978"/>
            <a:ext cx="4391024" cy="1173700"/>
          </a:xfrm>
        </p:spPr>
        <p:txBody>
          <a:bodyPr anchor="t">
            <a:normAutofit/>
          </a:bodyPr>
          <a:lstStyle/>
          <a:p>
            <a:r>
              <a:rPr lang="en-US" sz="4000">
                <a:solidFill>
                  <a:schemeClr val="bg1"/>
                </a:solidFill>
              </a:rPr>
              <a:t>But, what if?</a:t>
            </a:r>
          </a:p>
        </p:txBody>
      </p:sp>
      <p:pic>
        <p:nvPicPr>
          <p:cNvPr id="2050" name="Picture 2">
            <a:extLst>
              <a:ext uri="{FF2B5EF4-FFF2-40B4-BE49-F238E27FC236}">
                <a16:creationId xmlns:a16="http://schemas.microsoft.com/office/drawing/2014/main" id="{9F3F61AF-C184-9296-E05E-C9331CF11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01" r="11912" b="1"/>
          <a:stretch>
            <a:fillRect/>
          </a:stretch>
        </p:blipFill>
        <p:spPr bwMode="auto">
          <a:xfrm>
            <a:off x="6" y="-1"/>
            <a:ext cx="6000749" cy="3911828"/>
          </a:xfrm>
          <a:custGeom>
            <a:avLst/>
            <a:gdLst/>
            <a:ahLst/>
            <a:cxnLst/>
            <a:rect l="l" t="t" r="r" b="b"/>
            <a:pathLst>
              <a:path w="6000749" h="3911828">
                <a:moveTo>
                  <a:pt x="0" y="0"/>
                </a:moveTo>
                <a:lnTo>
                  <a:pt x="6000749" y="0"/>
                </a:lnTo>
                <a:lnTo>
                  <a:pt x="6000749" y="3767827"/>
                </a:lnTo>
                <a:lnTo>
                  <a:pt x="5572124" y="3740378"/>
                </a:lnTo>
                <a:lnTo>
                  <a:pt x="0" y="3911828"/>
                </a:lnTo>
                <a:close/>
              </a:path>
            </a:pathLst>
          </a:cu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5E9FD48-0299-AD6E-468C-B348B5ACEC01}"/>
              </a:ext>
            </a:extLst>
          </p:cNvPr>
          <p:cNvPicPr>
            <a:picLocks noChangeAspect="1"/>
          </p:cNvPicPr>
          <p:nvPr/>
        </p:nvPicPr>
        <p:blipFill>
          <a:blip r:embed="rId3"/>
          <a:srcRect t="4376" r="1" b="1"/>
          <a:stretch>
            <a:fillRect/>
          </a:stretch>
        </p:blipFill>
        <p:spPr>
          <a:xfrm>
            <a:off x="6191245" y="-1"/>
            <a:ext cx="6000750" cy="3988028"/>
          </a:xfrm>
          <a:custGeom>
            <a:avLst/>
            <a:gdLst/>
            <a:ahLst/>
            <a:cxnLst/>
            <a:rect l="l" t="t" r="r" b="b"/>
            <a:pathLst>
              <a:path w="6000750" h="3988028">
                <a:moveTo>
                  <a:pt x="0" y="0"/>
                </a:moveTo>
                <a:lnTo>
                  <a:pt x="6000750" y="0"/>
                </a:lnTo>
                <a:lnTo>
                  <a:pt x="6000750" y="797153"/>
                </a:lnTo>
                <a:lnTo>
                  <a:pt x="6000750" y="2634343"/>
                </a:lnTo>
                <a:lnTo>
                  <a:pt x="6000750" y="3911828"/>
                </a:lnTo>
                <a:lnTo>
                  <a:pt x="3248025" y="3988028"/>
                </a:lnTo>
                <a:lnTo>
                  <a:pt x="0" y="3780026"/>
                </a:lnTo>
                <a:close/>
              </a:path>
            </a:pathLst>
          </a:custGeom>
        </p:spPr>
      </p:pic>
      <p:grpSp>
        <p:nvGrpSpPr>
          <p:cNvPr id="2057" name="Group 2056">
            <a:extLst>
              <a:ext uri="{FF2B5EF4-FFF2-40B4-BE49-F238E27FC236}">
                <a16:creationId xmlns:a16="http://schemas.microsoft.com/office/drawing/2014/main" id="{A4AE1828-51FD-4AD7-BCF6-9AF5C696CE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2058" name="Freeform: Shape 2057">
              <a:extLst>
                <a:ext uri="{FF2B5EF4-FFF2-40B4-BE49-F238E27FC236}">
                  <a16:creationId xmlns:a16="http://schemas.microsoft.com/office/drawing/2014/main" id="{8542C7CD-02BE-4ADE-8D2F-DFB759D71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59" name="Freeform: Shape 2058">
              <a:extLst>
                <a:ext uri="{FF2B5EF4-FFF2-40B4-BE49-F238E27FC236}">
                  <a16:creationId xmlns:a16="http://schemas.microsoft.com/office/drawing/2014/main" id="{840A04EE-8E37-4C28-B09B-A9593A4AA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4">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D06BBA0A-24CB-2B8B-0677-EBC1443A8B2E}"/>
              </a:ext>
            </a:extLst>
          </p:cNvPr>
          <p:cNvSpPr>
            <a:spLocks noGrp="1"/>
          </p:cNvSpPr>
          <p:nvPr>
            <p:ph idx="1"/>
          </p:nvPr>
        </p:nvSpPr>
        <p:spPr>
          <a:xfrm>
            <a:off x="5664201" y="4766267"/>
            <a:ext cx="5692774" cy="1077411"/>
          </a:xfrm>
        </p:spPr>
        <p:txBody>
          <a:bodyPr>
            <a:normAutofit/>
          </a:bodyPr>
          <a:lstStyle/>
          <a:p>
            <a:r>
              <a:rPr lang="en-US" sz="2400" dirty="0">
                <a:solidFill>
                  <a:schemeClr val="bg1">
                    <a:alpha val="80000"/>
                  </a:schemeClr>
                </a:solidFill>
              </a:rPr>
              <a:t>Could this happen here?</a:t>
            </a:r>
          </a:p>
        </p:txBody>
      </p:sp>
    </p:spTree>
    <p:extLst>
      <p:ext uri="{BB962C8B-B14F-4D97-AF65-F5344CB8AC3E}">
        <p14:creationId xmlns:p14="http://schemas.microsoft.com/office/powerpoint/2010/main" val="187397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54ECE6-091E-3974-8783-8615379E3AB0}"/>
              </a:ext>
            </a:extLst>
          </p:cNvPr>
          <p:cNvSpPr>
            <a:spLocks noGrp="1"/>
          </p:cNvSpPr>
          <p:nvPr>
            <p:ph type="title"/>
          </p:nvPr>
        </p:nvSpPr>
        <p:spPr>
          <a:xfrm>
            <a:off x="838200" y="1195697"/>
            <a:ext cx="3200400" cy="4238118"/>
          </a:xfrm>
        </p:spPr>
        <p:txBody>
          <a:bodyPr>
            <a:normAutofit/>
          </a:bodyPr>
          <a:lstStyle/>
          <a:p>
            <a:r>
              <a:rPr lang="en-US" dirty="0">
                <a:solidFill>
                  <a:schemeClr val="bg1"/>
                </a:solidFill>
              </a:rPr>
              <a:t>Steps to Completion</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A58B6044-CB47-294A-3892-A6249E8BAED8}"/>
              </a:ext>
            </a:extLst>
          </p:cNvPr>
          <p:cNvGraphicFramePr>
            <a:graphicFrameLocks noGrp="1"/>
          </p:cNvGraphicFramePr>
          <p:nvPr>
            <p:ph idx="1"/>
            <p:extLst>
              <p:ext uri="{D42A27DB-BD31-4B8C-83A1-F6EECF244321}">
                <p14:modId xmlns:p14="http://schemas.microsoft.com/office/powerpoint/2010/main" val="475765852"/>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a:extLst>
              <a:ext uri="{FF2B5EF4-FFF2-40B4-BE49-F238E27FC236}">
                <a16:creationId xmlns:a16="http://schemas.microsoft.com/office/drawing/2014/main" id="{8A8909F9-F85D-C743-D9DE-89A2D84221C2}"/>
              </a:ext>
            </a:extLst>
          </p:cNvPr>
          <p:cNvSpPr/>
          <p:nvPr/>
        </p:nvSpPr>
        <p:spPr>
          <a:xfrm>
            <a:off x="5400675" y="390525"/>
            <a:ext cx="6619875" cy="3038475"/>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3978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66D7F65-E9B6-4775-8355-D095CC73C1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86EB49-8E07-1860-E8AE-32FD09D8051C}"/>
              </a:ext>
            </a:extLst>
          </p:cNvPr>
          <p:cNvSpPr>
            <a:spLocks noGrp="1"/>
          </p:cNvSpPr>
          <p:nvPr>
            <p:ph type="title"/>
          </p:nvPr>
        </p:nvSpPr>
        <p:spPr>
          <a:xfrm>
            <a:off x="202540" y="330740"/>
            <a:ext cx="6173262" cy="678900"/>
          </a:xfrm>
        </p:spPr>
        <p:txBody>
          <a:bodyPr anchor="b">
            <a:normAutofit/>
          </a:bodyPr>
          <a:lstStyle/>
          <a:p>
            <a:r>
              <a:rPr lang="en-US" sz="4000" dirty="0"/>
              <a:t>Step 1: Measure a Stop Sign</a:t>
            </a:r>
          </a:p>
        </p:txBody>
      </p:sp>
      <p:sp>
        <p:nvSpPr>
          <p:cNvPr id="3" name="Content Placeholder 2">
            <a:extLst>
              <a:ext uri="{FF2B5EF4-FFF2-40B4-BE49-F238E27FC236}">
                <a16:creationId xmlns:a16="http://schemas.microsoft.com/office/drawing/2014/main" id="{14D1EE7A-6BB4-370D-1F51-B7A80E23B556}"/>
              </a:ext>
            </a:extLst>
          </p:cNvPr>
          <p:cNvSpPr>
            <a:spLocks noGrp="1"/>
          </p:cNvSpPr>
          <p:nvPr>
            <p:ph idx="1"/>
          </p:nvPr>
        </p:nvSpPr>
        <p:spPr>
          <a:xfrm>
            <a:off x="630558" y="1097233"/>
            <a:ext cx="7351391" cy="5522642"/>
          </a:xfrm>
        </p:spPr>
        <p:txBody>
          <a:bodyPr>
            <a:normAutofit lnSpcReduction="10000"/>
          </a:bodyPr>
          <a:lstStyle/>
          <a:p>
            <a:r>
              <a:rPr lang="en-US" sz="1600" dirty="0"/>
              <a:t>Pick a STOP sign on campus</a:t>
            </a:r>
          </a:p>
          <a:p>
            <a:pPr lvl="1"/>
            <a:r>
              <a:rPr lang="en-US" sz="1600" dirty="0"/>
              <a:t>NOTE: You must pick a STOP sign that can be safely accessed from a sidewalk or other safe location.  You must not enter any roadway or parking surface to take your measurements</a:t>
            </a:r>
          </a:p>
          <a:p>
            <a:pPr lvl="1"/>
            <a:r>
              <a:rPr lang="en-US" sz="1600" dirty="0"/>
              <a:t>Two students must be present for any measurement activity – One student takes measurements while the other student ensures that no safety hazards are present</a:t>
            </a:r>
          </a:p>
          <a:p>
            <a:r>
              <a:rPr lang="en-US" sz="1600" dirty="0"/>
              <a:t>Develop a 3-D solid model of the sign system in SolidWorks (or other 3-D solid modelling software).  Note the following:</a:t>
            </a:r>
          </a:p>
          <a:p>
            <a:pPr lvl="1"/>
            <a:r>
              <a:rPr lang="en-US" sz="1600" dirty="0"/>
              <a:t>You do need to model the connection between the sign and the pole</a:t>
            </a:r>
          </a:p>
          <a:p>
            <a:pPr lvl="1"/>
            <a:r>
              <a:rPr lang="en-US" sz="1600" dirty="0"/>
              <a:t>You do NOT need to model any features below the ground surface. Do NOT dig up the sign!!!!</a:t>
            </a:r>
          </a:p>
          <a:p>
            <a:r>
              <a:rPr lang="en-US" sz="1600" dirty="0"/>
              <a:t>Create a 2-D drawing that includes critical dimensions and a photo of your STOP sign.</a:t>
            </a:r>
          </a:p>
          <a:p>
            <a:r>
              <a:rPr lang="en-US" sz="1600" dirty="0"/>
              <a:t>Assess whether or not the sign meets the basic requirements for the City of Daytona Beach Engineering Standards (See next Slide).  Provide explicit statements on your 2-D drawing regarding compliance for the following notes:</a:t>
            </a:r>
          </a:p>
          <a:p>
            <a:pPr lvl="1"/>
            <a:r>
              <a:rPr lang="en-US" sz="1400" dirty="0"/>
              <a:t>Note 2 – Access MUTCD Table 2B here: </a:t>
            </a:r>
            <a:r>
              <a:rPr lang="en-US" sz="1400" dirty="0">
                <a:hlinkClick r:id="rId2"/>
              </a:rPr>
              <a:t>https://mutcd.fhwa.dot.gov/htm/2003r1/part2/part2b1.htm</a:t>
            </a:r>
            <a:endParaRPr lang="en-US" sz="1400" dirty="0"/>
          </a:p>
          <a:p>
            <a:pPr lvl="1"/>
            <a:r>
              <a:rPr lang="en-US" sz="1400" dirty="0"/>
              <a:t>Note 4</a:t>
            </a:r>
          </a:p>
          <a:p>
            <a:pPr lvl="1"/>
            <a:r>
              <a:rPr lang="en-US" sz="1400" dirty="0"/>
              <a:t>Note 6</a:t>
            </a:r>
          </a:p>
          <a:p>
            <a:pPr lvl="1"/>
            <a:r>
              <a:rPr lang="en-US" sz="1400" dirty="0"/>
              <a:t>Note 7 (This will require additional effort – completed in Steps 2-5)</a:t>
            </a:r>
          </a:p>
        </p:txBody>
      </p:sp>
      <p:pic>
        <p:nvPicPr>
          <p:cNvPr id="5" name="Picture 4">
            <a:extLst>
              <a:ext uri="{FF2B5EF4-FFF2-40B4-BE49-F238E27FC236}">
                <a16:creationId xmlns:a16="http://schemas.microsoft.com/office/drawing/2014/main" id="{B53D9195-132F-01BC-B301-D7370B69806C}"/>
              </a:ext>
            </a:extLst>
          </p:cNvPr>
          <p:cNvPicPr>
            <a:picLocks noChangeAspect="1"/>
          </p:cNvPicPr>
          <p:nvPr/>
        </p:nvPicPr>
        <p:blipFill>
          <a:blip r:embed="rId3"/>
          <a:srcRect l="1529" r="3" b="3"/>
          <a:stretch>
            <a:fillRect/>
          </a:stretch>
        </p:blipFill>
        <p:spPr>
          <a:xfrm>
            <a:off x="8115300" y="-12515"/>
            <a:ext cx="4076700" cy="6418631"/>
          </a:xfrm>
          <a:prstGeom prst="rect">
            <a:avLst/>
          </a:prstGeom>
        </p:spPr>
      </p:pic>
      <p:sp>
        <p:nvSpPr>
          <p:cNvPr id="29" name="Rectangle 28">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7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608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65A27-AC1D-49B8-F0D9-3CA74DA61FB5}"/>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2B8818A6-0904-45F0-BDE3-04B6A23681A1}"/>
              </a:ext>
            </a:extLst>
          </p:cNvPr>
          <p:cNvPicPr>
            <a:picLocks noChangeAspect="1"/>
          </p:cNvPicPr>
          <p:nvPr/>
        </p:nvPicPr>
        <p:blipFill>
          <a:blip r:embed="rId2"/>
          <a:stretch>
            <a:fillRect/>
          </a:stretch>
        </p:blipFill>
        <p:spPr>
          <a:xfrm>
            <a:off x="0" y="365125"/>
            <a:ext cx="6354062" cy="6477904"/>
          </a:xfrm>
          <a:prstGeom prst="rect">
            <a:avLst/>
          </a:prstGeom>
        </p:spPr>
      </p:pic>
      <p:pic>
        <p:nvPicPr>
          <p:cNvPr id="7" name="Picture 6">
            <a:extLst>
              <a:ext uri="{FF2B5EF4-FFF2-40B4-BE49-F238E27FC236}">
                <a16:creationId xmlns:a16="http://schemas.microsoft.com/office/drawing/2014/main" id="{84C82C1C-5F17-2661-1A31-0E5838B71EB7}"/>
              </a:ext>
            </a:extLst>
          </p:cNvPr>
          <p:cNvPicPr>
            <a:picLocks noChangeAspect="1"/>
          </p:cNvPicPr>
          <p:nvPr/>
        </p:nvPicPr>
        <p:blipFill>
          <a:blip r:embed="rId3"/>
          <a:stretch>
            <a:fillRect/>
          </a:stretch>
        </p:blipFill>
        <p:spPr>
          <a:xfrm>
            <a:off x="5572724" y="41849"/>
            <a:ext cx="6562414" cy="3959445"/>
          </a:xfrm>
          <a:prstGeom prst="rect">
            <a:avLst/>
          </a:prstGeom>
        </p:spPr>
      </p:pic>
      <p:pic>
        <p:nvPicPr>
          <p:cNvPr id="11" name="Picture 10">
            <a:extLst>
              <a:ext uri="{FF2B5EF4-FFF2-40B4-BE49-F238E27FC236}">
                <a16:creationId xmlns:a16="http://schemas.microsoft.com/office/drawing/2014/main" id="{31CE4772-1044-0F91-A335-F8F8C50B820F}"/>
              </a:ext>
            </a:extLst>
          </p:cNvPr>
          <p:cNvPicPr>
            <a:picLocks noChangeAspect="1"/>
          </p:cNvPicPr>
          <p:nvPr/>
        </p:nvPicPr>
        <p:blipFill>
          <a:blip r:embed="rId4"/>
          <a:srcRect b="57613"/>
          <a:stretch>
            <a:fillRect/>
          </a:stretch>
        </p:blipFill>
        <p:spPr>
          <a:xfrm>
            <a:off x="6544368" y="5102190"/>
            <a:ext cx="3640493" cy="1475274"/>
          </a:xfrm>
          <a:prstGeom prst="rect">
            <a:avLst/>
          </a:prstGeom>
        </p:spPr>
      </p:pic>
      <p:pic>
        <p:nvPicPr>
          <p:cNvPr id="12" name="Picture 11">
            <a:extLst>
              <a:ext uri="{FF2B5EF4-FFF2-40B4-BE49-F238E27FC236}">
                <a16:creationId xmlns:a16="http://schemas.microsoft.com/office/drawing/2014/main" id="{3F543C3E-76E0-6E05-21B5-464056452FA7}"/>
              </a:ext>
            </a:extLst>
          </p:cNvPr>
          <p:cNvPicPr>
            <a:picLocks noChangeAspect="1"/>
          </p:cNvPicPr>
          <p:nvPr/>
        </p:nvPicPr>
        <p:blipFill>
          <a:blip r:embed="rId4"/>
          <a:srcRect l="26654" t="53884" r="24714"/>
          <a:stretch>
            <a:fillRect/>
          </a:stretch>
        </p:blipFill>
        <p:spPr>
          <a:xfrm>
            <a:off x="10184861" y="4887811"/>
            <a:ext cx="1770434" cy="1605064"/>
          </a:xfrm>
          <a:prstGeom prst="rect">
            <a:avLst/>
          </a:prstGeom>
        </p:spPr>
      </p:pic>
    </p:spTree>
    <p:extLst>
      <p:ext uri="{BB962C8B-B14F-4D97-AF65-F5344CB8AC3E}">
        <p14:creationId xmlns:p14="http://schemas.microsoft.com/office/powerpoint/2010/main" val="1932789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686E6-8BA7-D500-2E91-72AE6347511A}"/>
              </a:ext>
            </a:extLst>
          </p:cNvPr>
          <p:cNvSpPr>
            <a:spLocks noGrp="1"/>
          </p:cNvSpPr>
          <p:nvPr>
            <p:ph type="title"/>
          </p:nvPr>
        </p:nvSpPr>
        <p:spPr/>
        <p:txBody>
          <a:bodyPr/>
          <a:lstStyle/>
          <a:p>
            <a:r>
              <a:rPr lang="en-US" dirty="0"/>
              <a:t>Does the sign meet Daytona Beach Standards</a:t>
            </a:r>
          </a:p>
        </p:txBody>
      </p:sp>
      <p:sp>
        <p:nvSpPr>
          <p:cNvPr id="3" name="Content Placeholder 2">
            <a:extLst>
              <a:ext uri="{FF2B5EF4-FFF2-40B4-BE49-F238E27FC236}">
                <a16:creationId xmlns:a16="http://schemas.microsoft.com/office/drawing/2014/main" id="{DB8C8A02-CDE1-AF6C-8218-9161CAB1E67F}"/>
              </a:ext>
            </a:extLst>
          </p:cNvPr>
          <p:cNvSpPr>
            <a:spLocks noGrp="1"/>
          </p:cNvSpPr>
          <p:nvPr>
            <p:ph idx="1"/>
          </p:nvPr>
        </p:nvSpPr>
        <p:spPr/>
        <p:txBody>
          <a:bodyPr/>
          <a:lstStyle/>
          <a:p>
            <a:r>
              <a:rPr lang="en-US" dirty="0"/>
              <a:t>Yes, it does.</a:t>
            </a:r>
          </a:p>
          <a:p>
            <a:r>
              <a:rPr lang="en-US" dirty="0"/>
              <a:t>From note 2: The shape is octagonal and made of aluminum, it is also 0.080 inches thick. It is also 30 by 30.</a:t>
            </a:r>
          </a:p>
          <a:p>
            <a:r>
              <a:rPr lang="en-US" dirty="0"/>
              <a:t>From note 4: The diameter was measured to be 3 inches.</a:t>
            </a:r>
          </a:p>
          <a:p>
            <a:r>
              <a:rPr lang="en-US" dirty="0"/>
              <a:t>From note 6: The sign was more than 6 ft from the edge of the pavement. It was measured to be 8ft to the start of the pavement.</a:t>
            </a:r>
          </a:p>
          <a:p>
            <a:r>
              <a:rPr lang="en-US" dirty="0"/>
              <a:t>From note 7: Yes the sign can withstand 120mph of wind</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990753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A426CF-0996-B6F0-8B44-C4FF72E1C4C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DA6972-80DE-237A-D884-42144ED792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D989B3E9-ED0E-D987-D6FB-9BF72F2E9B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125F6500-C463-0D0E-A26C-C6ABD3D0AD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1023" y="52996"/>
            <a:ext cx="6093363" cy="6805005"/>
            <a:chOff x="6101023" y="52996"/>
            <a:chExt cx="6093363" cy="6805005"/>
          </a:xfrm>
        </p:grpSpPr>
        <p:sp>
          <p:nvSpPr>
            <p:cNvPr id="15" name="Freeform: Shape 14">
              <a:extLst>
                <a:ext uri="{FF2B5EF4-FFF2-40B4-BE49-F238E27FC236}">
                  <a16:creationId xmlns:a16="http://schemas.microsoft.com/office/drawing/2014/main" id="{00C9F84A-4319-A686-79EF-AB0B90AE88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3517682 w 5890490"/>
                <a:gd name="connsiteY0" fmla="*/ 0 h 6578439"/>
                <a:gd name="connsiteX1" fmla="*/ 5849513 w 5890490"/>
                <a:gd name="connsiteY1" fmla="*/ 841730 h 6578439"/>
                <a:gd name="connsiteX2" fmla="*/ 5890490 w 5890490"/>
                <a:gd name="connsiteY2" fmla="*/ 879060 h 6578439"/>
                <a:gd name="connsiteX3" fmla="*/ 5890490 w 5890490"/>
                <a:gd name="connsiteY3" fmla="*/ 1816052 h 6578439"/>
                <a:gd name="connsiteX4" fmla="*/ 5856961 w 5890490"/>
                <a:gd name="connsiteY4" fmla="*/ 1771023 h 6578439"/>
                <a:gd name="connsiteX5" fmla="*/ 5655397 w 5890490"/>
                <a:gd name="connsiteY5" fmla="*/ 1548813 h 6578439"/>
                <a:gd name="connsiteX6" fmla="*/ 3517682 w 5890490"/>
                <a:gd name="connsiteY6" fmla="*/ 658717 h 6578439"/>
                <a:gd name="connsiteX7" fmla="*/ 2395696 w 5890490"/>
                <a:gd name="connsiteY7" fmla="*/ 850721 h 6578439"/>
                <a:gd name="connsiteX8" fmla="*/ 1519955 w 5890490"/>
                <a:gd name="connsiteY8" fmla="*/ 1450441 h 6578439"/>
                <a:gd name="connsiteX9" fmla="*/ 1223630 w 5890490"/>
                <a:gd name="connsiteY9" fmla="*/ 1841430 h 6578439"/>
                <a:gd name="connsiteX10" fmla="*/ 1075857 w 5890490"/>
                <a:gd name="connsiteY10" fmla="*/ 2329343 h 6578439"/>
                <a:gd name="connsiteX11" fmla="*/ 731010 w 5890490"/>
                <a:gd name="connsiteY11" fmla="*/ 3483744 h 6578439"/>
                <a:gd name="connsiteX12" fmla="*/ 741000 w 5890490"/>
                <a:gd name="connsiteY12" fmla="*/ 4479719 h 6578439"/>
                <a:gd name="connsiteX13" fmla="*/ 1315615 w 5890490"/>
                <a:gd name="connsiteY13" fmla="*/ 5443827 h 6578439"/>
                <a:gd name="connsiteX14" fmla="*/ 2277503 w 5890490"/>
                <a:gd name="connsiteY14" fmla="*/ 6259386 h 6578439"/>
                <a:gd name="connsiteX15" fmla="*/ 3439448 w 5890490"/>
                <a:gd name="connsiteY15" fmla="*/ 6551739 h 6578439"/>
                <a:gd name="connsiteX16" fmla="*/ 4408732 w 5890490"/>
                <a:gd name="connsiteY16" fmla="*/ 6255172 h 6578439"/>
                <a:gd name="connsiteX17" fmla="*/ 5343243 w 5890490"/>
                <a:gd name="connsiteY17" fmla="*/ 5442509 h 6578439"/>
                <a:gd name="connsiteX18" fmla="*/ 5745566 w 5890490"/>
                <a:gd name="connsiteY18" fmla="*/ 5056656 h 6578439"/>
                <a:gd name="connsiteX19" fmla="*/ 5890490 w 5890490"/>
                <a:gd name="connsiteY19" fmla="*/ 4920880 h 6578439"/>
                <a:gd name="connsiteX20" fmla="*/ 5890490 w 5890490"/>
                <a:gd name="connsiteY20" fmla="*/ 5821966 h 6578439"/>
                <a:gd name="connsiteX21" fmla="*/ 5802002 w 5890490"/>
                <a:gd name="connsiteY21" fmla="*/ 5907904 h 6578439"/>
                <a:gd name="connsiteX22" fmla="*/ 5294358 w 5890490"/>
                <a:gd name="connsiteY22" fmla="*/ 6397505 h 6578439"/>
                <a:gd name="connsiteX23" fmla="*/ 5077178 w 5890490"/>
                <a:gd name="connsiteY23" fmla="*/ 6578439 h 6578439"/>
                <a:gd name="connsiteX24" fmla="*/ 1567290 w 5890490"/>
                <a:gd name="connsiteY24" fmla="*/ 6578439 h 6578439"/>
                <a:gd name="connsiteX25" fmla="*/ 1508588 w 5890490"/>
                <a:gd name="connsiteY25" fmla="*/ 6535186 h 6578439"/>
                <a:gd name="connsiteX26" fmla="*/ 826498 w 5890490"/>
                <a:gd name="connsiteY26" fmla="*/ 5876034 h 6578439"/>
                <a:gd name="connsiteX27" fmla="*/ 122403 w 5890490"/>
                <a:gd name="connsiteY27" fmla="*/ 3255655 h 6578439"/>
                <a:gd name="connsiteX28" fmla="*/ 1061197 w 5890490"/>
                <a:gd name="connsiteY28" fmla="*/ 984650 h 6578439"/>
                <a:gd name="connsiteX29" fmla="*/ 3517682 w 5890490"/>
                <a:gd name="connsiteY29"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90" h="6578439">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F2AB008A-D053-31C0-FB39-0BD3D3F48D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5"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193939C0-26C1-9A06-1FD8-4954A3D78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3"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gs>
                <a:gs pos="16000">
                  <a:schemeClr val="accent6">
                    <a:alpha val="10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651AA438-0AD8-C316-89F6-5B5C63258D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pic>
        <p:nvPicPr>
          <p:cNvPr id="6" name="Picture 5">
            <a:extLst>
              <a:ext uri="{FF2B5EF4-FFF2-40B4-BE49-F238E27FC236}">
                <a16:creationId xmlns:a16="http://schemas.microsoft.com/office/drawing/2014/main" id="{FDFDDEBE-9C1E-DB08-5389-599A64E685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505" y="-168171"/>
            <a:ext cx="11483769" cy="6807096"/>
          </a:xfrm>
          <a:prstGeom prst="rect">
            <a:avLst/>
          </a:prstGeom>
        </p:spPr>
      </p:pic>
    </p:spTree>
    <p:extLst>
      <p:ext uri="{BB962C8B-B14F-4D97-AF65-F5344CB8AC3E}">
        <p14:creationId xmlns:p14="http://schemas.microsoft.com/office/powerpoint/2010/main" val="976143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17B810-9BA1-5BAE-00A6-10D56695CA0E}"/>
            </a:ext>
          </a:extLst>
        </p:cNvPr>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E425D81B-5AC5-86A5-EA2B-B8F97BB72AC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rot="5400000">
            <a:off x="643467" y="783167"/>
            <a:ext cx="5291666" cy="5291666"/>
          </a:xfrm>
          <a:prstGeom prst="rect">
            <a:avLst/>
          </a:prstGeom>
        </p:spPr>
      </p:pic>
      <p:pic>
        <p:nvPicPr>
          <p:cNvPr id="9" name="Content Placeholder 8">
            <a:extLst>
              <a:ext uri="{FF2B5EF4-FFF2-40B4-BE49-F238E27FC236}">
                <a16:creationId xmlns:a16="http://schemas.microsoft.com/office/drawing/2014/main" id="{200E3BB7-0885-5623-0DA3-D6716BD254C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rot="5400000">
            <a:off x="6256864" y="783166"/>
            <a:ext cx="5291667" cy="5291667"/>
          </a:xfrm>
          <a:prstGeom prst="rect">
            <a:avLst/>
          </a:prstGeom>
        </p:spPr>
      </p:pic>
    </p:spTree>
    <p:extLst>
      <p:ext uri="{BB962C8B-B14F-4D97-AF65-F5344CB8AC3E}">
        <p14:creationId xmlns:p14="http://schemas.microsoft.com/office/powerpoint/2010/main" val="3150370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8DB153-20C0-0F1C-8534-1B157EACF9F2}"/>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Step 2: Estimate Wind Load</a:t>
            </a:r>
          </a:p>
        </p:txBody>
      </p:sp>
      <p:graphicFrame>
        <p:nvGraphicFramePr>
          <p:cNvPr id="5" name="Content Placeholder 2">
            <a:extLst>
              <a:ext uri="{FF2B5EF4-FFF2-40B4-BE49-F238E27FC236}">
                <a16:creationId xmlns:a16="http://schemas.microsoft.com/office/drawing/2014/main" id="{B3610143-0EA2-188A-3FFD-80D216309F52}"/>
              </a:ext>
            </a:extLst>
          </p:cNvPr>
          <p:cNvGraphicFramePr>
            <a:graphicFrameLocks noGrp="1"/>
          </p:cNvGraphicFramePr>
          <p:nvPr>
            <p:ph idx="1"/>
            <p:extLst>
              <p:ext uri="{D42A27DB-BD31-4B8C-83A1-F6EECF244321}">
                <p14:modId xmlns:p14="http://schemas.microsoft.com/office/powerpoint/2010/main" val="240053455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0823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518ECD-BCC1-7A12-B2A3-A0E7C3C658E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91BBACC-F1E6-F963-C836-0DB214DA97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A6C99C3-2D5B-10C0-111F-FF37F88F3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E851C62-EF30-BFF7-E2F5-8EF46FB04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540BEB5-C8D0-620E-B23B-DF0CAC139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FBDA4F4-C6E6-58EB-A36E-065C9CF1FCE8}"/>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Step 2: Estimate Wind Load</a:t>
            </a:r>
          </a:p>
        </p:txBody>
      </p:sp>
      <p:sp>
        <p:nvSpPr>
          <p:cNvPr id="4" name="Content Placeholder 3">
            <a:extLst>
              <a:ext uri="{FF2B5EF4-FFF2-40B4-BE49-F238E27FC236}">
                <a16:creationId xmlns:a16="http://schemas.microsoft.com/office/drawing/2014/main" id="{0DE041A9-E9D9-8D27-3273-24B55EBE7891}"/>
              </a:ext>
            </a:extLst>
          </p:cNvPr>
          <p:cNvSpPr>
            <a:spLocks noGrp="1"/>
          </p:cNvSpPr>
          <p:nvPr>
            <p:ph idx="1"/>
          </p:nvPr>
        </p:nvSpPr>
        <p:spPr/>
        <p:txBody>
          <a:bodyPr/>
          <a:lstStyle/>
          <a:p>
            <a:r>
              <a:rPr lang="en-US" dirty="0"/>
              <a:t>Method 1: Bluff Body Drag Equation</a:t>
            </a:r>
          </a:p>
          <a:p>
            <a:endParaRPr lang="en-US" dirty="0"/>
          </a:p>
          <a:p>
            <a:endParaRPr lang="en-US" dirty="0"/>
          </a:p>
          <a:p>
            <a:endParaRPr lang="en-US" dirty="0"/>
          </a:p>
          <a:p>
            <a:endParaRPr lang="en-US" dirty="0"/>
          </a:p>
        </p:txBody>
      </p:sp>
      <p:sp>
        <p:nvSpPr>
          <p:cNvPr id="16" name="TextBox 15">
            <a:extLst>
              <a:ext uri="{FF2B5EF4-FFF2-40B4-BE49-F238E27FC236}">
                <a16:creationId xmlns:a16="http://schemas.microsoft.com/office/drawing/2014/main" id="{CD21FBA0-13F4-B076-595A-35CB76FFD164}"/>
              </a:ext>
            </a:extLst>
          </p:cNvPr>
          <p:cNvSpPr txBox="1"/>
          <p:nvPr/>
        </p:nvSpPr>
        <p:spPr>
          <a:xfrm>
            <a:off x="7309728" y="2782669"/>
            <a:ext cx="4552545" cy="1477328"/>
          </a:xfrm>
          <a:prstGeom prst="rect">
            <a:avLst/>
          </a:prstGeom>
          <a:noFill/>
        </p:spPr>
        <p:txBody>
          <a:bodyPr wrap="square" rtlCol="0">
            <a:spAutoFit/>
          </a:bodyPr>
          <a:lstStyle/>
          <a:p>
            <a:r>
              <a:rPr lang="en-US" dirty="0"/>
              <a:t>Questions:</a:t>
            </a:r>
          </a:p>
          <a:p>
            <a:pPr marL="285750" indent="-168275">
              <a:buFont typeface="Arial" panose="020B0604020202020204" pitchFamily="34" charset="0"/>
              <a:buChar char="•"/>
            </a:pPr>
            <a:r>
              <a:rPr lang="en-US" dirty="0"/>
              <a:t>Do we need to consider the 2-1/2” pole?</a:t>
            </a:r>
          </a:p>
          <a:p>
            <a:pPr marL="285750" indent="-168275">
              <a:buFont typeface="Arial" panose="020B0604020202020204" pitchFamily="34" charset="0"/>
              <a:buChar char="•"/>
            </a:pPr>
            <a:r>
              <a:rPr lang="en-US" dirty="0"/>
              <a:t>What is an appropriate drag coefficient?</a:t>
            </a:r>
          </a:p>
          <a:p>
            <a:pPr marL="285750" indent="-168275">
              <a:buFont typeface="Arial" panose="020B0604020202020204" pitchFamily="34" charset="0"/>
              <a:buChar char="•"/>
            </a:pPr>
            <a:r>
              <a:rPr lang="en-US" dirty="0"/>
              <a:t>How important are the units for density, velocity, and area?</a:t>
            </a:r>
          </a:p>
        </p:txBody>
      </p:sp>
      <p:pic>
        <p:nvPicPr>
          <p:cNvPr id="18" name="Picture 17">
            <a:extLst>
              <a:ext uri="{FF2B5EF4-FFF2-40B4-BE49-F238E27FC236}">
                <a16:creationId xmlns:a16="http://schemas.microsoft.com/office/drawing/2014/main" id="{8ED2BBF0-451F-2193-CF94-619AA1F74F5F}"/>
              </a:ext>
            </a:extLst>
          </p:cNvPr>
          <p:cNvPicPr>
            <a:picLocks noChangeAspect="1"/>
          </p:cNvPicPr>
          <p:nvPr/>
        </p:nvPicPr>
        <p:blipFill>
          <a:blip r:embed="rId2"/>
          <a:stretch>
            <a:fillRect/>
          </a:stretch>
        </p:blipFill>
        <p:spPr>
          <a:xfrm>
            <a:off x="1515903" y="2642950"/>
            <a:ext cx="5677692" cy="3400900"/>
          </a:xfrm>
          <a:prstGeom prst="rect">
            <a:avLst/>
          </a:prstGeom>
        </p:spPr>
      </p:pic>
    </p:spTree>
    <p:extLst>
      <p:ext uri="{BB962C8B-B14F-4D97-AF65-F5344CB8AC3E}">
        <p14:creationId xmlns:p14="http://schemas.microsoft.com/office/powerpoint/2010/main" val="1555968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2385B-D4BB-D261-53A1-96F1E36E0CFF}"/>
            </a:ext>
          </a:extLst>
        </p:cNvPr>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33BE568D-84FF-8C41-640C-B3BCC0B2D31E}"/>
              </a:ext>
            </a:extLst>
          </p:cNvPr>
          <p:cNvPicPr>
            <a:picLocks noGrp="1"/>
          </p:cNvPicPr>
          <p:nvPr>
            <p:ph type="pic" idx="1"/>
          </p:nvPr>
        </p:nvPicPr>
        <p:blipFill>
          <a:blip r:embed="rId2">
            <a:extLst>
              <a:ext uri="{28A0092B-C50C-407E-A947-70E740481C1C}">
                <a14:useLocalDpi xmlns:a14="http://schemas.microsoft.com/office/drawing/2010/main" val="0"/>
              </a:ext>
            </a:extLst>
          </a:blip>
          <a:srcRect t="12579" b="12579"/>
          <a:stretch>
            <a:fillRect/>
          </a:stretch>
        </p:blipFill>
        <p:spPr>
          <a:xfrm>
            <a:off x="2962870" y="95250"/>
            <a:ext cx="6554193" cy="6667500"/>
          </a:xfrm>
          <a:prstGeom prst="rect">
            <a:avLst/>
          </a:prstGeom>
        </p:spPr>
      </p:pic>
    </p:spTree>
    <p:extLst>
      <p:ext uri="{BB962C8B-B14F-4D97-AF65-F5344CB8AC3E}">
        <p14:creationId xmlns:p14="http://schemas.microsoft.com/office/powerpoint/2010/main" val="2860726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5A6E56-5672-841E-57FF-5D2A2AA492F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3BAAB6-19DF-2297-68A5-2EE081E4D0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A2BB833-153D-4142-2AF4-9F04AB287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45A0B48-6637-AE4D-9E28-2FD817D7E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FA9169-BF83-DA12-1227-0FAE70BDB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77F85FF-3685-D536-8FA5-7E5E5F367A2D}"/>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Step 2: Estimate Wind Load</a:t>
            </a:r>
          </a:p>
        </p:txBody>
      </p:sp>
      <p:sp>
        <p:nvSpPr>
          <p:cNvPr id="4" name="Content Placeholder 3">
            <a:extLst>
              <a:ext uri="{FF2B5EF4-FFF2-40B4-BE49-F238E27FC236}">
                <a16:creationId xmlns:a16="http://schemas.microsoft.com/office/drawing/2014/main" id="{129DD6DE-670E-84CF-71B1-080AC26FAB8C}"/>
              </a:ext>
            </a:extLst>
          </p:cNvPr>
          <p:cNvSpPr>
            <a:spLocks noGrp="1"/>
          </p:cNvSpPr>
          <p:nvPr>
            <p:ph idx="1"/>
          </p:nvPr>
        </p:nvSpPr>
        <p:spPr/>
        <p:txBody>
          <a:bodyPr/>
          <a:lstStyle/>
          <a:p>
            <a:r>
              <a:rPr lang="en-US" dirty="0"/>
              <a:t>Method 2: ASCE – 7 (The practicing professional approach)</a:t>
            </a:r>
          </a:p>
          <a:p>
            <a:endParaRPr lang="en-US" dirty="0"/>
          </a:p>
          <a:p>
            <a:endParaRPr lang="en-US" dirty="0"/>
          </a:p>
          <a:p>
            <a:endParaRPr lang="en-US" dirty="0"/>
          </a:p>
          <a:p>
            <a:endParaRPr lang="en-US" dirty="0"/>
          </a:p>
        </p:txBody>
      </p:sp>
      <p:pic>
        <p:nvPicPr>
          <p:cNvPr id="3074" name="Picture 2" descr="ASCE 7-22 books and logo">
            <a:extLst>
              <a:ext uri="{FF2B5EF4-FFF2-40B4-BE49-F238E27FC236}">
                <a16:creationId xmlns:a16="http://schemas.microsoft.com/office/drawing/2014/main" id="{9F868D2C-E27D-CC52-D398-2E501E6A97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534" y="2301910"/>
            <a:ext cx="5046141" cy="354431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DB07DF3-050E-7467-5FAB-934B503D4A96}"/>
              </a:ext>
            </a:extLst>
          </p:cNvPr>
          <p:cNvSpPr txBox="1"/>
          <p:nvPr/>
        </p:nvSpPr>
        <p:spPr>
          <a:xfrm>
            <a:off x="7546020" y="2509883"/>
            <a:ext cx="4226880" cy="1477328"/>
          </a:xfrm>
          <a:prstGeom prst="rect">
            <a:avLst/>
          </a:prstGeom>
          <a:noFill/>
        </p:spPr>
        <p:txBody>
          <a:bodyPr wrap="square" rtlCol="0">
            <a:spAutoFit/>
          </a:bodyPr>
          <a:lstStyle/>
          <a:p>
            <a:r>
              <a:rPr lang="en-US" dirty="0"/>
              <a:t>Every six years, the American Society of Civil Engineers releases an updated version of the </a:t>
            </a:r>
            <a:r>
              <a:rPr lang="en-US" b="1" i="1" u="sng" dirty="0"/>
              <a:t>Minimum Design Loads and Associate Criteria for Buildings and Other Structures</a:t>
            </a:r>
            <a:endParaRPr lang="en-US" b="1" u="sng" dirty="0"/>
          </a:p>
        </p:txBody>
      </p:sp>
      <p:pic>
        <p:nvPicPr>
          <p:cNvPr id="6" name="Picture 5">
            <a:extLst>
              <a:ext uri="{FF2B5EF4-FFF2-40B4-BE49-F238E27FC236}">
                <a16:creationId xmlns:a16="http://schemas.microsoft.com/office/drawing/2014/main" id="{385133A2-EB0A-4621-4665-BEB25894E1EB}"/>
              </a:ext>
            </a:extLst>
          </p:cNvPr>
          <p:cNvPicPr>
            <a:picLocks noChangeAspect="1"/>
          </p:cNvPicPr>
          <p:nvPr/>
        </p:nvPicPr>
        <p:blipFill>
          <a:blip r:embed="rId3"/>
          <a:stretch>
            <a:fillRect/>
          </a:stretch>
        </p:blipFill>
        <p:spPr>
          <a:xfrm>
            <a:off x="5711675" y="4387174"/>
            <a:ext cx="6399314" cy="1923110"/>
          </a:xfrm>
          <a:prstGeom prst="rect">
            <a:avLst/>
          </a:prstGeom>
        </p:spPr>
      </p:pic>
      <p:sp>
        <p:nvSpPr>
          <p:cNvPr id="7" name="Oval 6">
            <a:extLst>
              <a:ext uri="{FF2B5EF4-FFF2-40B4-BE49-F238E27FC236}">
                <a16:creationId xmlns:a16="http://schemas.microsoft.com/office/drawing/2014/main" id="{3356869A-0E32-E886-61AE-D0B7CAE28812}"/>
              </a:ext>
            </a:extLst>
          </p:cNvPr>
          <p:cNvSpPr/>
          <p:nvPr/>
        </p:nvSpPr>
        <p:spPr>
          <a:xfrm>
            <a:off x="9499262" y="5138029"/>
            <a:ext cx="1197313" cy="389106"/>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1264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B95094-6FE6-F5E0-067E-C7A2F66DD07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3D8B4A-9CBB-3F6E-F66E-4235EF8BC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43AD816-6213-2235-B354-2161410FB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DED656A-3791-D751-A821-576DA92AB4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FD9068E-953C-FC2E-E2E0-67CFEAF96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64284D3-13A9-C333-4248-A66230C7AB66}"/>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Step 2: Estimate Wind Load (ASCE 7)</a:t>
            </a:r>
          </a:p>
        </p:txBody>
      </p:sp>
      <p:sp>
        <p:nvSpPr>
          <p:cNvPr id="4" name="Content Placeholder 3">
            <a:extLst>
              <a:ext uri="{FF2B5EF4-FFF2-40B4-BE49-F238E27FC236}">
                <a16:creationId xmlns:a16="http://schemas.microsoft.com/office/drawing/2014/main" id="{ADE081E4-5EF6-72A8-A687-5B5D370C9F06}"/>
              </a:ext>
            </a:extLst>
          </p:cNvPr>
          <p:cNvSpPr>
            <a:spLocks noGrp="1"/>
          </p:cNvSpPr>
          <p:nvPr>
            <p:ph idx="1"/>
          </p:nvPr>
        </p:nvSpPr>
        <p:spPr/>
        <p:txBody>
          <a:bodyPr/>
          <a:lstStyle/>
          <a:p>
            <a:r>
              <a:rPr lang="en-US" dirty="0"/>
              <a:t>Method 2: ASCE – 7 (The practicing professional approach)</a:t>
            </a:r>
          </a:p>
          <a:p>
            <a:endParaRPr lang="en-US" dirty="0"/>
          </a:p>
          <a:p>
            <a:pPr lvl="1"/>
            <a:r>
              <a:rPr lang="en-US" dirty="0"/>
              <a:t>Step 1 – Establish the Base Pressure</a:t>
            </a:r>
          </a:p>
          <a:p>
            <a:endParaRPr lang="en-US" dirty="0"/>
          </a:p>
        </p:txBody>
      </p:sp>
      <p:sp>
        <p:nvSpPr>
          <p:cNvPr id="3" name="TextBox 2">
            <a:extLst>
              <a:ext uri="{FF2B5EF4-FFF2-40B4-BE49-F238E27FC236}">
                <a16:creationId xmlns:a16="http://schemas.microsoft.com/office/drawing/2014/main" id="{053E6704-B35A-08A8-C01F-4D66AAD0330A}"/>
              </a:ext>
            </a:extLst>
          </p:cNvPr>
          <p:cNvSpPr txBox="1"/>
          <p:nvPr/>
        </p:nvSpPr>
        <p:spPr>
          <a:xfrm>
            <a:off x="1069020" y="2308037"/>
            <a:ext cx="3703006" cy="369332"/>
          </a:xfrm>
          <a:prstGeom prst="rect">
            <a:avLst/>
          </a:prstGeom>
          <a:noFill/>
        </p:spPr>
        <p:txBody>
          <a:bodyPr wrap="square" rtlCol="0">
            <a:spAutoFit/>
          </a:bodyPr>
          <a:lstStyle/>
          <a:p>
            <a:r>
              <a:rPr lang="en-US" b="1" u="sng" dirty="0"/>
              <a:t>Essentially a two-step process:</a:t>
            </a:r>
          </a:p>
        </p:txBody>
      </p:sp>
      <p:pic>
        <p:nvPicPr>
          <p:cNvPr id="8" name="Picture 7">
            <a:extLst>
              <a:ext uri="{FF2B5EF4-FFF2-40B4-BE49-F238E27FC236}">
                <a16:creationId xmlns:a16="http://schemas.microsoft.com/office/drawing/2014/main" id="{8C58A81E-8C80-B746-296B-43880CC798CA}"/>
              </a:ext>
            </a:extLst>
          </p:cNvPr>
          <p:cNvPicPr>
            <a:picLocks noChangeAspect="1"/>
          </p:cNvPicPr>
          <p:nvPr/>
        </p:nvPicPr>
        <p:blipFill>
          <a:blip r:embed="rId2"/>
          <a:stretch>
            <a:fillRect/>
          </a:stretch>
        </p:blipFill>
        <p:spPr>
          <a:xfrm>
            <a:off x="2999959" y="3429000"/>
            <a:ext cx="5963482" cy="3343742"/>
          </a:xfrm>
          <a:prstGeom prst="rect">
            <a:avLst/>
          </a:prstGeom>
        </p:spPr>
      </p:pic>
    </p:spTree>
    <p:extLst>
      <p:ext uri="{BB962C8B-B14F-4D97-AF65-F5344CB8AC3E}">
        <p14:creationId xmlns:p14="http://schemas.microsoft.com/office/powerpoint/2010/main" val="2775257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D09B38-D9E3-52D7-EA09-9D5A121C482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B3253F5-5833-7D14-FB36-D71FCE580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62218A7-C6BE-9305-77D8-F868F288F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B51A215-029D-C846-B292-E56B13606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E5C4C5F-2193-25EE-4EFC-31FFE4D65D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785CCF86-B724-BDA8-521C-79F5F37F8261}"/>
              </a:ext>
            </a:extLst>
          </p:cNvPr>
          <p:cNvSpPr>
            <a:spLocks noGrp="1"/>
          </p:cNvSpPr>
          <p:nvPr>
            <p:ph idx="1"/>
          </p:nvPr>
        </p:nvSpPr>
        <p:spPr>
          <a:xfrm>
            <a:off x="-154021" y="1815897"/>
            <a:ext cx="10515600" cy="4351338"/>
          </a:xfrm>
        </p:spPr>
        <p:txBody>
          <a:bodyPr/>
          <a:lstStyle/>
          <a:p>
            <a:pPr lvl="1"/>
            <a:r>
              <a:rPr lang="en-US" dirty="0"/>
              <a:t>Establish the Base Pressure</a:t>
            </a:r>
          </a:p>
          <a:p>
            <a:endParaRPr lang="en-US" dirty="0"/>
          </a:p>
        </p:txBody>
      </p:sp>
      <p:grpSp>
        <p:nvGrpSpPr>
          <p:cNvPr id="6" name="Group 5">
            <a:extLst>
              <a:ext uri="{FF2B5EF4-FFF2-40B4-BE49-F238E27FC236}">
                <a16:creationId xmlns:a16="http://schemas.microsoft.com/office/drawing/2014/main" id="{AF10A35F-8A7D-2154-9AA2-2105F995D34E}"/>
              </a:ext>
            </a:extLst>
          </p:cNvPr>
          <p:cNvGrpSpPr/>
          <p:nvPr/>
        </p:nvGrpSpPr>
        <p:grpSpPr>
          <a:xfrm>
            <a:off x="1416357" y="2438197"/>
            <a:ext cx="5963482" cy="457200"/>
            <a:chOff x="2408578" y="2505075"/>
            <a:chExt cx="5963482" cy="457200"/>
          </a:xfrm>
        </p:grpSpPr>
        <p:pic>
          <p:nvPicPr>
            <p:cNvPr id="8" name="Picture 7">
              <a:extLst>
                <a:ext uri="{FF2B5EF4-FFF2-40B4-BE49-F238E27FC236}">
                  <a16:creationId xmlns:a16="http://schemas.microsoft.com/office/drawing/2014/main" id="{DB6EC5A2-0512-0EE9-3055-28662162499F}"/>
                </a:ext>
              </a:extLst>
            </p:cNvPr>
            <p:cNvPicPr>
              <a:picLocks noChangeAspect="1"/>
            </p:cNvPicPr>
            <p:nvPr/>
          </p:nvPicPr>
          <p:blipFill>
            <a:blip r:embed="rId2"/>
            <a:srcRect b="86327"/>
            <a:stretch>
              <a:fillRect/>
            </a:stretch>
          </p:blipFill>
          <p:spPr>
            <a:xfrm>
              <a:off x="2408578" y="2505075"/>
              <a:ext cx="5963482" cy="457200"/>
            </a:xfrm>
            <a:prstGeom prst="rect">
              <a:avLst/>
            </a:prstGeom>
          </p:spPr>
        </p:pic>
        <p:sp>
          <p:nvSpPr>
            <p:cNvPr id="5" name="Rectangle 4">
              <a:extLst>
                <a:ext uri="{FF2B5EF4-FFF2-40B4-BE49-F238E27FC236}">
                  <a16:creationId xmlns:a16="http://schemas.microsoft.com/office/drawing/2014/main" id="{DEBB06FC-7873-61DE-F10D-34EC80247A98}"/>
                </a:ext>
              </a:extLst>
            </p:cNvPr>
            <p:cNvSpPr/>
            <p:nvPr/>
          </p:nvSpPr>
          <p:spPr>
            <a:xfrm>
              <a:off x="5961819" y="2505075"/>
              <a:ext cx="438150" cy="457200"/>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Picture 9">
            <a:extLst>
              <a:ext uri="{FF2B5EF4-FFF2-40B4-BE49-F238E27FC236}">
                <a16:creationId xmlns:a16="http://schemas.microsoft.com/office/drawing/2014/main" id="{6FCB285C-925C-3D37-0889-0CC94418100E}"/>
              </a:ext>
            </a:extLst>
          </p:cNvPr>
          <p:cNvPicPr>
            <a:picLocks noChangeAspect="1"/>
          </p:cNvPicPr>
          <p:nvPr/>
        </p:nvPicPr>
        <p:blipFill>
          <a:blip r:embed="rId3"/>
          <a:stretch>
            <a:fillRect/>
          </a:stretch>
        </p:blipFill>
        <p:spPr>
          <a:xfrm>
            <a:off x="5966085" y="-77821"/>
            <a:ext cx="7064115" cy="6858000"/>
          </a:xfrm>
          <a:prstGeom prst="rect">
            <a:avLst/>
          </a:prstGeom>
        </p:spPr>
      </p:pic>
      <p:sp>
        <p:nvSpPr>
          <p:cNvPr id="16" name="TextBox 15">
            <a:extLst>
              <a:ext uri="{FF2B5EF4-FFF2-40B4-BE49-F238E27FC236}">
                <a16:creationId xmlns:a16="http://schemas.microsoft.com/office/drawing/2014/main" id="{39BC54B3-2680-5C81-71FF-98F3900E1B47}"/>
              </a:ext>
            </a:extLst>
          </p:cNvPr>
          <p:cNvSpPr txBox="1"/>
          <p:nvPr/>
        </p:nvSpPr>
        <p:spPr>
          <a:xfrm>
            <a:off x="1429135" y="3639438"/>
            <a:ext cx="3978613" cy="646331"/>
          </a:xfrm>
          <a:prstGeom prst="rect">
            <a:avLst/>
          </a:prstGeom>
          <a:noFill/>
        </p:spPr>
        <p:txBody>
          <a:bodyPr wrap="square" rtlCol="0">
            <a:spAutoFit/>
          </a:bodyPr>
          <a:lstStyle/>
          <a:p>
            <a:r>
              <a:rPr lang="en-US" dirty="0"/>
              <a:t>City of Daytona Beach says:</a:t>
            </a:r>
            <a:br>
              <a:rPr lang="en-US" dirty="0"/>
            </a:br>
            <a:r>
              <a:rPr lang="en-US" dirty="0"/>
              <a:t> “Use 120 MPH for STOP signs.”</a:t>
            </a:r>
          </a:p>
        </p:txBody>
      </p:sp>
    </p:spTree>
    <p:extLst>
      <p:ext uri="{BB962C8B-B14F-4D97-AF65-F5344CB8AC3E}">
        <p14:creationId xmlns:p14="http://schemas.microsoft.com/office/powerpoint/2010/main" val="1762865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8FA06C-16BA-4D4E-D9F4-88145E6D9D6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864F74-B144-4F1B-D162-CE0DAB2081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F244DCD-2768-3F01-92F6-2B1B822EC0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AF2CB40-ECAC-5664-1D2B-7F95E4255B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A49C20-9F43-3D4C-D3FC-D1D72C7F96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F185E36B-B03C-62CD-CC9C-3EC09A2352EB}"/>
              </a:ext>
            </a:extLst>
          </p:cNvPr>
          <p:cNvSpPr>
            <a:spLocks noGrp="1"/>
          </p:cNvSpPr>
          <p:nvPr>
            <p:ph idx="1"/>
          </p:nvPr>
        </p:nvSpPr>
        <p:spPr>
          <a:xfrm>
            <a:off x="-154021" y="1815897"/>
            <a:ext cx="10515600" cy="4351338"/>
          </a:xfrm>
        </p:spPr>
        <p:txBody>
          <a:bodyPr/>
          <a:lstStyle/>
          <a:p>
            <a:pPr lvl="1"/>
            <a:r>
              <a:rPr lang="en-US" dirty="0"/>
              <a:t>Establish the Base Pressure</a:t>
            </a:r>
          </a:p>
          <a:p>
            <a:endParaRPr lang="en-US" dirty="0"/>
          </a:p>
        </p:txBody>
      </p:sp>
      <p:grpSp>
        <p:nvGrpSpPr>
          <p:cNvPr id="6" name="Group 5">
            <a:extLst>
              <a:ext uri="{FF2B5EF4-FFF2-40B4-BE49-F238E27FC236}">
                <a16:creationId xmlns:a16="http://schemas.microsoft.com/office/drawing/2014/main" id="{A3BDE8D2-9703-A076-3C61-16E2BDE076EC}"/>
              </a:ext>
            </a:extLst>
          </p:cNvPr>
          <p:cNvGrpSpPr/>
          <p:nvPr/>
        </p:nvGrpSpPr>
        <p:grpSpPr>
          <a:xfrm>
            <a:off x="1416357" y="2438197"/>
            <a:ext cx="5963482" cy="473210"/>
            <a:chOff x="2408578" y="2505075"/>
            <a:chExt cx="5963482" cy="473210"/>
          </a:xfrm>
        </p:grpSpPr>
        <p:pic>
          <p:nvPicPr>
            <p:cNvPr id="8" name="Picture 7">
              <a:extLst>
                <a:ext uri="{FF2B5EF4-FFF2-40B4-BE49-F238E27FC236}">
                  <a16:creationId xmlns:a16="http://schemas.microsoft.com/office/drawing/2014/main" id="{31FA6986-6D0B-5BFF-93A6-FB2514527DB7}"/>
                </a:ext>
              </a:extLst>
            </p:cNvPr>
            <p:cNvPicPr>
              <a:picLocks noChangeAspect="1"/>
            </p:cNvPicPr>
            <p:nvPr/>
          </p:nvPicPr>
          <p:blipFill>
            <a:blip r:embed="rId2"/>
            <a:srcRect b="86327"/>
            <a:stretch>
              <a:fillRect/>
            </a:stretch>
          </p:blipFill>
          <p:spPr>
            <a:xfrm>
              <a:off x="2408578" y="2505075"/>
              <a:ext cx="5963482" cy="457200"/>
            </a:xfrm>
            <a:prstGeom prst="rect">
              <a:avLst/>
            </a:prstGeom>
          </p:spPr>
        </p:pic>
        <p:sp>
          <p:nvSpPr>
            <p:cNvPr id="5" name="Rectangle 4">
              <a:extLst>
                <a:ext uri="{FF2B5EF4-FFF2-40B4-BE49-F238E27FC236}">
                  <a16:creationId xmlns:a16="http://schemas.microsoft.com/office/drawing/2014/main" id="{B7B48710-4390-3B08-48EA-5EA30DDC7038}"/>
                </a:ext>
              </a:extLst>
            </p:cNvPr>
            <p:cNvSpPr/>
            <p:nvPr/>
          </p:nvSpPr>
          <p:spPr>
            <a:xfrm>
              <a:off x="4039775" y="2521085"/>
              <a:ext cx="438150" cy="457200"/>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a:extLst>
              <a:ext uri="{FF2B5EF4-FFF2-40B4-BE49-F238E27FC236}">
                <a16:creationId xmlns:a16="http://schemas.microsoft.com/office/drawing/2014/main" id="{4A7CFB76-3C41-40CF-8F17-A08DA08CF59B}"/>
              </a:ext>
            </a:extLst>
          </p:cNvPr>
          <p:cNvPicPr>
            <a:picLocks noChangeAspect="1"/>
          </p:cNvPicPr>
          <p:nvPr/>
        </p:nvPicPr>
        <p:blipFill>
          <a:blip r:embed="rId3"/>
          <a:stretch>
            <a:fillRect/>
          </a:stretch>
        </p:blipFill>
        <p:spPr>
          <a:xfrm>
            <a:off x="5693678" y="2204282"/>
            <a:ext cx="6354062" cy="3962953"/>
          </a:xfrm>
          <a:prstGeom prst="rect">
            <a:avLst/>
          </a:prstGeom>
        </p:spPr>
      </p:pic>
    </p:spTree>
    <p:extLst>
      <p:ext uri="{BB962C8B-B14F-4D97-AF65-F5344CB8AC3E}">
        <p14:creationId xmlns:p14="http://schemas.microsoft.com/office/powerpoint/2010/main" val="2766070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859A9A-85FC-B6F3-0797-D238BE17860C}"/>
            </a:ext>
          </a:extLst>
        </p:cNvPr>
        <p:cNvGrpSpPr/>
        <p:nvPr/>
      </p:nvGrpSpPr>
      <p:grpSpPr>
        <a:xfrm>
          <a:off x="0" y="0"/>
          <a:ext cx="0" cy="0"/>
          <a:chOff x="0" y="0"/>
          <a:chExt cx="0" cy="0"/>
        </a:xfrm>
      </p:grpSpPr>
      <p:sp>
        <p:nvSpPr>
          <p:cNvPr id="4103" name="Rectangle 410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098" name="Picture 2" descr="ASCE 7 Exposure D Illustration">
            <a:extLst>
              <a:ext uri="{FF2B5EF4-FFF2-40B4-BE49-F238E27FC236}">
                <a16:creationId xmlns:a16="http://schemas.microsoft.com/office/drawing/2014/main" id="{A750B3DC-7B29-7640-DB5E-A41357C293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8554"/>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5244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3B3E7A-5CA7-C9B3-5C77-CCE674EFAF7E}"/>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5B81ED3D-AFB5-89FF-CE02-55A445AB56CD}"/>
              </a:ext>
            </a:extLst>
          </p:cNvPr>
          <p:cNvPicPr>
            <a:picLocks noChangeAspect="1"/>
          </p:cNvPicPr>
          <p:nvPr/>
        </p:nvPicPr>
        <p:blipFill>
          <a:blip r:embed="rId2"/>
          <a:srcRect t="23222"/>
          <a:stretch>
            <a:fillRect/>
          </a:stretch>
        </p:blipFill>
        <p:spPr>
          <a:xfrm>
            <a:off x="20" y="1282"/>
            <a:ext cx="12191980" cy="6856718"/>
          </a:xfrm>
          <a:prstGeom prst="rect">
            <a:avLst/>
          </a:prstGeom>
        </p:spPr>
      </p:pic>
    </p:spTree>
    <p:extLst>
      <p:ext uri="{BB962C8B-B14F-4D97-AF65-F5344CB8AC3E}">
        <p14:creationId xmlns:p14="http://schemas.microsoft.com/office/powerpoint/2010/main" val="181931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B77662-D192-A7B5-E3E9-89DCA5DD6779}"/>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F6FAB77B-962D-5CFA-8E60-EC32318EBEB9}"/>
              </a:ext>
            </a:extLst>
          </p:cNvPr>
          <p:cNvPicPr>
            <a:picLocks noChangeAspect="1"/>
          </p:cNvPicPr>
          <p:nvPr/>
        </p:nvPicPr>
        <p:blipFill>
          <a:blip r:embed="rId2"/>
          <a:srcRect t="24616" b="9414"/>
          <a:stretch>
            <a:fillRect/>
          </a:stretch>
        </p:blipFill>
        <p:spPr>
          <a:xfrm>
            <a:off x="20" y="1282"/>
            <a:ext cx="12191980" cy="6856718"/>
          </a:xfrm>
          <a:prstGeom prst="rect">
            <a:avLst/>
          </a:prstGeom>
        </p:spPr>
      </p:pic>
    </p:spTree>
    <p:extLst>
      <p:ext uri="{BB962C8B-B14F-4D97-AF65-F5344CB8AC3E}">
        <p14:creationId xmlns:p14="http://schemas.microsoft.com/office/powerpoint/2010/main" val="2896885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7" name="Rectangle 513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96F31B-39BF-0C5E-57E4-0A72D4853D82}"/>
              </a:ext>
            </a:extLst>
          </p:cNvPr>
          <p:cNvSpPr>
            <a:spLocks noGrp="1"/>
          </p:cNvSpPr>
          <p:nvPr>
            <p:ph type="title"/>
          </p:nvPr>
        </p:nvSpPr>
        <p:spPr>
          <a:xfrm>
            <a:off x="630936" y="639520"/>
            <a:ext cx="3429000" cy="1719072"/>
          </a:xfrm>
        </p:spPr>
        <p:txBody>
          <a:bodyPr anchor="b">
            <a:normAutofit fontScale="90000"/>
          </a:bodyPr>
          <a:lstStyle/>
          <a:p>
            <a:r>
              <a:rPr lang="en-US" sz="5400" dirty="0"/>
              <a:t>Boundary Layer Models</a:t>
            </a:r>
          </a:p>
        </p:txBody>
      </p:sp>
      <p:sp>
        <p:nvSpPr>
          <p:cNvPr id="513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4AB8CD6-14C9-7357-526C-3D7F9EC99BDF}"/>
              </a:ext>
            </a:extLst>
          </p:cNvPr>
          <p:cNvSpPr>
            <a:spLocks noGrp="1"/>
          </p:cNvSpPr>
          <p:nvPr>
            <p:ph idx="1"/>
          </p:nvPr>
        </p:nvSpPr>
        <p:spPr>
          <a:xfrm>
            <a:off x="630936" y="2807208"/>
            <a:ext cx="4023360" cy="3410712"/>
          </a:xfrm>
        </p:spPr>
        <p:txBody>
          <a:bodyPr anchor="t">
            <a:normAutofit/>
          </a:bodyPr>
          <a:lstStyle/>
          <a:p>
            <a:r>
              <a:rPr lang="en-US" sz="2200" dirty="0"/>
              <a:t>How tall is the Burj Khalifa?</a:t>
            </a:r>
          </a:p>
        </p:txBody>
      </p:sp>
      <p:pic>
        <p:nvPicPr>
          <p:cNvPr id="5122" name="Picture 2">
            <a:extLst>
              <a:ext uri="{FF2B5EF4-FFF2-40B4-BE49-F238E27FC236}">
                <a16:creationId xmlns:a16="http://schemas.microsoft.com/office/drawing/2014/main" id="{45A31A63-4E24-35C3-E226-49A0CC018DA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676145"/>
            <a:ext cx="6903720" cy="5505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009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99A433-4890-6CD5-8055-7441EF470DC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3953438-D79E-0199-39C3-061B058487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407AEE9F-0642-F74D-A7A5-DA2DFD5B0C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A27C4290-F75D-5AEF-F164-81B822376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8C369F6B-B999-BE91-422D-4D35213EE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Content Placeholder 3">
            <a:extLst>
              <a:ext uri="{FF2B5EF4-FFF2-40B4-BE49-F238E27FC236}">
                <a16:creationId xmlns:a16="http://schemas.microsoft.com/office/drawing/2014/main" id="{465AE51C-886F-49EC-95A2-213B77124400}"/>
              </a:ext>
            </a:extLst>
          </p:cNvPr>
          <p:cNvSpPr>
            <a:spLocks noGrp="1"/>
          </p:cNvSpPr>
          <p:nvPr>
            <p:ph idx="1"/>
          </p:nvPr>
        </p:nvSpPr>
        <p:spPr>
          <a:xfrm>
            <a:off x="-154021" y="1815897"/>
            <a:ext cx="10515600" cy="4351338"/>
          </a:xfrm>
        </p:spPr>
        <p:txBody>
          <a:bodyPr/>
          <a:lstStyle/>
          <a:p>
            <a:pPr lvl="1"/>
            <a:r>
              <a:rPr lang="en-US" dirty="0"/>
              <a:t>Establish the Base Pressure</a:t>
            </a:r>
          </a:p>
          <a:p>
            <a:endParaRPr lang="en-US" dirty="0"/>
          </a:p>
        </p:txBody>
      </p:sp>
      <p:grpSp>
        <p:nvGrpSpPr>
          <p:cNvPr id="6" name="Group 5">
            <a:extLst>
              <a:ext uri="{FF2B5EF4-FFF2-40B4-BE49-F238E27FC236}">
                <a16:creationId xmlns:a16="http://schemas.microsoft.com/office/drawing/2014/main" id="{95EED3CF-92AA-F005-1C22-E22E132EAF1C}"/>
              </a:ext>
            </a:extLst>
          </p:cNvPr>
          <p:cNvGrpSpPr/>
          <p:nvPr/>
        </p:nvGrpSpPr>
        <p:grpSpPr>
          <a:xfrm>
            <a:off x="1416357" y="2438197"/>
            <a:ext cx="5963482" cy="473210"/>
            <a:chOff x="2408578" y="2505075"/>
            <a:chExt cx="5963482" cy="473210"/>
          </a:xfrm>
        </p:grpSpPr>
        <p:pic>
          <p:nvPicPr>
            <p:cNvPr id="8" name="Picture 7">
              <a:extLst>
                <a:ext uri="{FF2B5EF4-FFF2-40B4-BE49-F238E27FC236}">
                  <a16:creationId xmlns:a16="http://schemas.microsoft.com/office/drawing/2014/main" id="{5CB584E5-1588-520C-9904-338A42482E1A}"/>
                </a:ext>
              </a:extLst>
            </p:cNvPr>
            <p:cNvPicPr>
              <a:picLocks noChangeAspect="1"/>
            </p:cNvPicPr>
            <p:nvPr/>
          </p:nvPicPr>
          <p:blipFill>
            <a:blip r:embed="rId2"/>
            <a:srcRect b="86327"/>
            <a:stretch>
              <a:fillRect/>
            </a:stretch>
          </p:blipFill>
          <p:spPr>
            <a:xfrm>
              <a:off x="2408578" y="2505075"/>
              <a:ext cx="5963482" cy="457200"/>
            </a:xfrm>
            <a:prstGeom prst="rect">
              <a:avLst/>
            </a:prstGeom>
          </p:spPr>
        </p:pic>
        <p:sp>
          <p:nvSpPr>
            <p:cNvPr id="5" name="Rectangle 4">
              <a:extLst>
                <a:ext uri="{FF2B5EF4-FFF2-40B4-BE49-F238E27FC236}">
                  <a16:creationId xmlns:a16="http://schemas.microsoft.com/office/drawing/2014/main" id="{2EA325BF-7F34-7358-3FDB-5FFA6FA18F7B}"/>
                </a:ext>
              </a:extLst>
            </p:cNvPr>
            <p:cNvSpPr/>
            <p:nvPr/>
          </p:nvSpPr>
          <p:spPr>
            <a:xfrm>
              <a:off x="4039775" y="2521085"/>
              <a:ext cx="438150" cy="457200"/>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pic>
        <p:nvPicPr>
          <p:cNvPr id="3" name="Picture 2">
            <a:extLst>
              <a:ext uri="{FF2B5EF4-FFF2-40B4-BE49-F238E27FC236}">
                <a16:creationId xmlns:a16="http://schemas.microsoft.com/office/drawing/2014/main" id="{7D8612D1-2C36-AA93-0B5B-D1479A2F2BF3}"/>
              </a:ext>
            </a:extLst>
          </p:cNvPr>
          <p:cNvPicPr>
            <a:picLocks noChangeAspect="1"/>
          </p:cNvPicPr>
          <p:nvPr/>
        </p:nvPicPr>
        <p:blipFill>
          <a:blip r:embed="rId3"/>
          <a:stretch>
            <a:fillRect/>
          </a:stretch>
        </p:blipFill>
        <p:spPr>
          <a:xfrm>
            <a:off x="5693678" y="2204282"/>
            <a:ext cx="6354062" cy="3962953"/>
          </a:xfrm>
          <a:prstGeom prst="rect">
            <a:avLst/>
          </a:prstGeom>
        </p:spPr>
      </p:pic>
      <p:sp>
        <p:nvSpPr>
          <p:cNvPr id="2" name="TextBox 1">
            <a:extLst>
              <a:ext uri="{FF2B5EF4-FFF2-40B4-BE49-F238E27FC236}">
                <a16:creationId xmlns:a16="http://schemas.microsoft.com/office/drawing/2014/main" id="{A886B65B-FC26-D509-C183-F7ADE284E2D3}"/>
              </a:ext>
            </a:extLst>
          </p:cNvPr>
          <p:cNvSpPr txBox="1"/>
          <p:nvPr/>
        </p:nvSpPr>
        <p:spPr>
          <a:xfrm>
            <a:off x="1206228" y="3386988"/>
            <a:ext cx="3132307" cy="646331"/>
          </a:xfrm>
          <a:prstGeom prst="rect">
            <a:avLst/>
          </a:prstGeom>
          <a:noFill/>
          <a:ln w="57150">
            <a:solidFill>
              <a:srgbClr val="C00000"/>
            </a:solidFill>
          </a:ln>
        </p:spPr>
        <p:txBody>
          <a:bodyPr wrap="square" rtlCol="0">
            <a:spAutoFit/>
          </a:bodyPr>
          <a:lstStyle/>
          <a:p>
            <a:r>
              <a:rPr lang="en-US" dirty="0"/>
              <a:t>Exposure B for our STOP sign, use 0.57</a:t>
            </a:r>
          </a:p>
        </p:txBody>
      </p:sp>
    </p:spTree>
    <p:extLst>
      <p:ext uri="{BB962C8B-B14F-4D97-AF65-F5344CB8AC3E}">
        <p14:creationId xmlns:p14="http://schemas.microsoft.com/office/powerpoint/2010/main" val="945529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E098D4-36F0-C075-C260-1FF78102038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2F2D5D5-B21A-5144-0722-49025FD53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201D3249-2C69-030B-B94D-505276C85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ED659804-EDD2-24A3-0D75-56B54B887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1F09AFFF-2D82-AD91-EE7F-F26D2BF2A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6146" name="Picture 2" descr="ASCE 7 - 26.8-1 (2)">
            <a:extLst>
              <a:ext uri="{FF2B5EF4-FFF2-40B4-BE49-F238E27FC236}">
                <a16:creationId xmlns:a16="http://schemas.microsoft.com/office/drawing/2014/main" id="{704DECBD-F994-3E40-9CE9-6DAA20188B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753600" cy="671512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2E0290C6-F7B9-A268-FEE0-EC360872963A}"/>
              </a:ext>
            </a:extLst>
          </p:cNvPr>
          <p:cNvGrpSpPr/>
          <p:nvPr/>
        </p:nvGrpSpPr>
        <p:grpSpPr>
          <a:xfrm>
            <a:off x="8002620" y="1837083"/>
            <a:ext cx="4020767" cy="457200"/>
            <a:chOff x="2408578" y="2505075"/>
            <a:chExt cx="4020767" cy="457200"/>
          </a:xfrm>
        </p:grpSpPr>
        <p:pic>
          <p:nvPicPr>
            <p:cNvPr id="8" name="Picture 7">
              <a:extLst>
                <a:ext uri="{FF2B5EF4-FFF2-40B4-BE49-F238E27FC236}">
                  <a16:creationId xmlns:a16="http://schemas.microsoft.com/office/drawing/2014/main" id="{31B0545F-47C6-3FB7-5206-A1EDBB42F88B}"/>
                </a:ext>
              </a:extLst>
            </p:cNvPr>
            <p:cNvPicPr>
              <a:picLocks noChangeAspect="1"/>
            </p:cNvPicPr>
            <p:nvPr/>
          </p:nvPicPr>
          <p:blipFill>
            <a:blip r:embed="rId3"/>
            <a:srcRect r="32577" b="86327"/>
            <a:stretch>
              <a:fillRect/>
            </a:stretch>
          </p:blipFill>
          <p:spPr>
            <a:xfrm>
              <a:off x="2408578" y="2505075"/>
              <a:ext cx="4020767" cy="457200"/>
            </a:xfrm>
            <a:prstGeom prst="rect">
              <a:avLst/>
            </a:prstGeom>
          </p:spPr>
        </p:pic>
        <p:sp>
          <p:nvSpPr>
            <p:cNvPr id="5" name="Rectangle 4">
              <a:extLst>
                <a:ext uri="{FF2B5EF4-FFF2-40B4-BE49-F238E27FC236}">
                  <a16:creationId xmlns:a16="http://schemas.microsoft.com/office/drawing/2014/main" id="{AE336E09-4658-9AB7-7CCB-F342A4E1F8C6}"/>
                </a:ext>
              </a:extLst>
            </p:cNvPr>
            <p:cNvSpPr/>
            <p:nvPr/>
          </p:nvSpPr>
          <p:spPr>
            <a:xfrm>
              <a:off x="4494178" y="2505075"/>
              <a:ext cx="505560" cy="457200"/>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10" name="TextBox 9">
            <a:extLst>
              <a:ext uri="{FF2B5EF4-FFF2-40B4-BE49-F238E27FC236}">
                <a16:creationId xmlns:a16="http://schemas.microsoft.com/office/drawing/2014/main" id="{FC0FAACF-C158-B295-2E24-F410790DBB25}"/>
              </a:ext>
            </a:extLst>
          </p:cNvPr>
          <p:cNvSpPr txBox="1"/>
          <p:nvPr/>
        </p:nvSpPr>
        <p:spPr>
          <a:xfrm>
            <a:off x="8677072" y="3073940"/>
            <a:ext cx="2869660" cy="369332"/>
          </a:xfrm>
          <a:prstGeom prst="rect">
            <a:avLst/>
          </a:prstGeom>
          <a:noFill/>
          <a:ln w="57150">
            <a:solidFill>
              <a:srgbClr val="C00000"/>
            </a:solidFill>
          </a:ln>
        </p:spPr>
        <p:txBody>
          <a:bodyPr wrap="square" rtlCol="0">
            <a:spAutoFit/>
          </a:bodyPr>
          <a:lstStyle/>
          <a:p>
            <a:r>
              <a:rPr lang="en-US" dirty="0"/>
              <a:t>Use 1.0 for our STOP sign</a:t>
            </a:r>
          </a:p>
        </p:txBody>
      </p:sp>
    </p:spTree>
    <p:extLst>
      <p:ext uri="{BB962C8B-B14F-4D97-AF65-F5344CB8AC3E}">
        <p14:creationId xmlns:p14="http://schemas.microsoft.com/office/powerpoint/2010/main" val="1588439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7C42B3-C37D-E01E-2C0E-0DF1A45AF34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14E1D0-B423-5020-4C72-E30D099D7B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720EDFB5-B5F7-1534-29C0-F6F28259AA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7D04BEF7-D14D-45AA-5E80-6535F7BC28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E6C371E3-9359-340F-752C-8476998DD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D74AC53C-988D-13AA-409C-27DF1CC43362}"/>
              </a:ext>
            </a:extLst>
          </p:cNvPr>
          <p:cNvGrpSpPr/>
          <p:nvPr/>
        </p:nvGrpSpPr>
        <p:grpSpPr>
          <a:xfrm>
            <a:off x="8002620" y="1837083"/>
            <a:ext cx="4020767" cy="457200"/>
            <a:chOff x="2408578" y="2505075"/>
            <a:chExt cx="4020767" cy="457200"/>
          </a:xfrm>
        </p:grpSpPr>
        <p:pic>
          <p:nvPicPr>
            <p:cNvPr id="8" name="Picture 7">
              <a:extLst>
                <a:ext uri="{FF2B5EF4-FFF2-40B4-BE49-F238E27FC236}">
                  <a16:creationId xmlns:a16="http://schemas.microsoft.com/office/drawing/2014/main" id="{183E5EA4-ABC5-61DE-0270-5796916BCE9D}"/>
                </a:ext>
              </a:extLst>
            </p:cNvPr>
            <p:cNvPicPr>
              <a:picLocks noChangeAspect="1"/>
            </p:cNvPicPr>
            <p:nvPr/>
          </p:nvPicPr>
          <p:blipFill>
            <a:blip r:embed="rId2"/>
            <a:srcRect r="32577" b="86327"/>
            <a:stretch>
              <a:fillRect/>
            </a:stretch>
          </p:blipFill>
          <p:spPr>
            <a:xfrm>
              <a:off x="2408578" y="2505075"/>
              <a:ext cx="4020767" cy="457200"/>
            </a:xfrm>
            <a:prstGeom prst="rect">
              <a:avLst/>
            </a:prstGeom>
          </p:spPr>
        </p:pic>
        <p:sp>
          <p:nvSpPr>
            <p:cNvPr id="5" name="Rectangle 4">
              <a:extLst>
                <a:ext uri="{FF2B5EF4-FFF2-40B4-BE49-F238E27FC236}">
                  <a16:creationId xmlns:a16="http://schemas.microsoft.com/office/drawing/2014/main" id="{8485A824-810F-5553-37F5-9F39FB12884F}"/>
                </a:ext>
              </a:extLst>
            </p:cNvPr>
            <p:cNvSpPr/>
            <p:nvPr/>
          </p:nvSpPr>
          <p:spPr>
            <a:xfrm>
              <a:off x="4965471" y="2505075"/>
              <a:ext cx="505560" cy="457200"/>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10" name="TextBox 9">
            <a:extLst>
              <a:ext uri="{FF2B5EF4-FFF2-40B4-BE49-F238E27FC236}">
                <a16:creationId xmlns:a16="http://schemas.microsoft.com/office/drawing/2014/main" id="{D8831154-71CF-6ED2-7BD5-BB99CDDCAC95}"/>
              </a:ext>
            </a:extLst>
          </p:cNvPr>
          <p:cNvSpPr txBox="1"/>
          <p:nvPr/>
        </p:nvSpPr>
        <p:spPr>
          <a:xfrm>
            <a:off x="8677072" y="3073940"/>
            <a:ext cx="2869660" cy="369332"/>
          </a:xfrm>
          <a:prstGeom prst="rect">
            <a:avLst/>
          </a:prstGeom>
          <a:noFill/>
          <a:ln w="57150">
            <a:solidFill>
              <a:srgbClr val="C00000"/>
            </a:solidFill>
          </a:ln>
        </p:spPr>
        <p:txBody>
          <a:bodyPr wrap="square" rtlCol="0">
            <a:spAutoFit/>
          </a:bodyPr>
          <a:lstStyle/>
          <a:p>
            <a:r>
              <a:rPr lang="en-US" dirty="0"/>
              <a:t>Use 0.85 for our STOP sign</a:t>
            </a:r>
          </a:p>
        </p:txBody>
      </p:sp>
      <p:sp>
        <p:nvSpPr>
          <p:cNvPr id="2" name="TextBox 1">
            <a:extLst>
              <a:ext uri="{FF2B5EF4-FFF2-40B4-BE49-F238E27FC236}">
                <a16:creationId xmlns:a16="http://schemas.microsoft.com/office/drawing/2014/main" id="{92A62E48-4168-A9F7-75B9-C92A95D8DBC8}"/>
              </a:ext>
            </a:extLst>
          </p:cNvPr>
          <p:cNvSpPr txBox="1"/>
          <p:nvPr/>
        </p:nvSpPr>
        <p:spPr>
          <a:xfrm>
            <a:off x="161925" y="1752600"/>
            <a:ext cx="3648075" cy="3693319"/>
          </a:xfrm>
          <a:prstGeom prst="rect">
            <a:avLst/>
          </a:prstGeom>
          <a:noFill/>
        </p:spPr>
        <p:txBody>
          <a:bodyPr wrap="square" rtlCol="0">
            <a:spAutoFit/>
          </a:bodyPr>
          <a:lstStyle/>
          <a:p>
            <a:r>
              <a:rPr lang="en-US" dirty="0" err="1"/>
              <a:t>Kd</a:t>
            </a:r>
            <a:r>
              <a:rPr lang="en-US" dirty="0"/>
              <a:t> is a “directionality coefficient”. They are essentially asking the question, “What is the likelihood that the maximum design windspeed will occur at the exact angle of incidence that maximize the load on the structure?”</a:t>
            </a:r>
          </a:p>
          <a:p>
            <a:endParaRPr lang="en-US" dirty="0"/>
          </a:p>
          <a:p>
            <a:r>
              <a:rPr lang="en-US" dirty="0"/>
              <a:t>For our stop sign, this means the wind direction would need to be perpendicular to the plane of the sign.  In this case, ASCE 7 recommends 0.85.</a:t>
            </a:r>
          </a:p>
        </p:txBody>
      </p:sp>
      <p:pic>
        <p:nvPicPr>
          <p:cNvPr id="7" name="Picture 6">
            <a:extLst>
              <a:ext uri="{FF2B5EF4-FFF2-40B4-BE49-F238E27FC236}">
                <a16:creationId xmlns:a16="http://schemas.microsoft.com/office/drawing/2014/main" id="{644E6236-CFEB-DC55-1EC5-E02F1F8D3E15}"/>
              </a:ext>
            </a:extLst>
          </p:cNvPr>
          <p:cNvPicPr>
            <a:picLocks noChangeAspect="1"/>
          </p:cNvPicPr>
          <p:nvPr/>
        </p:nvPicPr>
        <p:blipFill>
          <a:blip r:embed="rId3"/>
          <a:stretch>
            <a:fillRect/>
          </a:stretch>
        </p:blipFill>
        <p:spPr>
          <a:xfrm>
            <a:off x="3810000" y="1576183"/>
            <a:ext cx="4135795" cy="5282045"/>
          </a:xfrm>
          <a:prstGeom prst="rect">
            <a:avLst/>
          </a:prstGeom>
        </p:spPr>
      </p:pic>
      <p:sp>
        <p:nvSpPr>
          <p:cNvPr id="14" name="Rectangle 13">
            <a:extLst>
              <a:ext uri="{FF2B5EF4-FFF2-40B4-BE49-F238E27FC236}">
                <a16:creationId xmlns:a16="http://schemas.microsoft.com/office/drawing/2014/main" id="{F61CDD11-78BA-373A-48A1-15DB5AF40EA2}"/>
              </a:ext>
            </a:extLst>
          </p:cNvPr>
          <p:cNvSpPr/>
          <p:nvPr/>
        </p:nvSpPr>
        <p:spPr>
          <a:xfrm>
            <a:off x="3809999" y="4514759"/>
            <a:ext cx="3312451" cy="767058"/>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54033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C72819-167F-1BA2-C559-985F28A2445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D08574B-24DE-D28C-696C-6133DC67C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AD237377-1F84-9402-65F3-3243A763E9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8219EA3-63C5-4122-C1D8-AA5C3012C2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324C9AC-B203-F03F-1852-DB33C67384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3" name="Picture 2">
            <a:extLst>
              <a:ext uri="{FF2B5EF4-FFF2-40B4-BE49-F238E27FC236}">
                <a16:creationId xmlns:a16="http://schemas.microsoft.com/office/drawing/2014/main" id="{BD37B8BF-D605-574D-969F-3BEEBA984546}"/>
              </a:ext>
            </a:extLst>
          </p:cNvPr>
          <p:cNvPicPr>
            <a:picLocks noChangeAspect="1"/>
          </p:cNvPicPr>
          <p:nvPr/>
        </p:nvPicPr>
        <p:blipFill>
          <a:blip r:embed="rId2"/>
          <a:stretch>
            <a:fillRect/>
          </a:stretch>
        </p:blipFill>
        <p:spPr>
          <a:xfrm>
            <a:off x="-2" y="0"/>
            <a:ext cx="12192000" cy="6560573"/>
          </a:xfrm>
          <a:prstGeom prst="rect">
            <a:avLst/>
          </a:prstGeom>
        </p:spPr>
      </p:pic>
      <p:grpSp>
        <p:nvGrpSpPr>
          <p:cNvPr id="6" name="Group 5">
            <a:extLst>
              <a:ext uri="{FF2B5EF4-FFF2-40B4-BE49-F238E27FC236}">
                <a16:creationId xmlns:a16="http://schemas.microsoft.com/office/drawing/2014/main" id="{27783CA8-BEB0-B78D-0770-717B92BBFBDA}"/>
              </a:ext>
            </a:extLst>
          </p:cNvPr>
          <p:cNvGrpSpPr/>
          <p:nvPr/>
        </p:nvGrpSpPr>
        <p:grpSpPr>
          <a:xfrm>
            <a:off x="8128857" y="5732808"/>
            <a:ext cx="4020767" cy="457200"/>
            <a:chOff x="2408578" y="2505075"/>
            <a:chExt cx="4020767" cy="457200"/>
          </a:xfrm>
        </p:grpSpPr>
        <p:pic>
          <p:nvPicPr>
            <p:cNvPr id="8" name="Picture 7">
              <a:extLst>
                <a:ext uri="{FF2B5EF4-FFF2-40B4-BE49-F238E27FC236}">
                  <a16:creationId xmlns:a16="http://schemas.microsoft.com/office/drawing/2014/main" id="{A10B6FEA-61AE-14CB-6CA8-3D8F10AF94BF}"/>
                </a:ext>
              </a:extLst>
            </p:cNvPr>
            <p:cNvPicPr>
              <a:picLocks noChangeAspect="1"/>
            </p:cNvPicPr>
            <p:nvPr/>
          </p:nvPicPr>
          <p:blipFill>
            <a:blip r:embed="rId3"/>
            <a:srcRect r="32577" b="86327"/>
            <a:stretch>
              <a:fillRect/>
            </a:stretch>
          </p:blipFill>
          <p:spPr>
            <a:xfrm>
              <a:off x="2408578" y="2505075"/>
              <a:ext cx="4020767" cy="457200"/>
            </a:xfrm>
            <a:prstGeom prst="rect">
              <a:avLst/>
            </a:prstGeom>
          </p:spPr>
        </p:pic>
        <p:sp>
          <p:nvSpPr>
            <p:cNvPr id="5" name="Rectangle 4">
              <a:extLst>
                <a:ext uri="{FF2B5EF4-FFF2-40B4-BE49-F238E27FC236}">
                  <a16:creationId xmlns:a16="http://schemas.microsoft.com/office/drawing/2014/main" id="{6186962A-765A-63C1-0994-C2307CCAC2AE}"/>
                </a:ext>
              </a:extLst>
            </p:cNvPr>
            <p:cNvSpPr/>
            <p:nvPr/>
          </p:nvSpPr>
          <p:spPr>
            <a:xfrm>
              <a:off x="5466944" y="2505075"/>
              <a:ext cx="505560" cy="457200"/>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cxnSp>
        <p:nvCxnSpPr>
          <p:cNvPr id="10" name="Straight Arrow Connector 9">
            <a:extLst>
              <a:ext uri="{FF2B5EF4-FFF2-40B4-BE49-F238E27FC236}">
                <a16:creationId xmlns:a16="http://schemas.microsoft.com/office/drawing/2014/main" id="{D88364C2-3318-7F2A-DADC-6D8DA94BB749}"/>
              </a:ext>
            </a:extLst>
          </p:cNvPr>
          <p:cNvCxnSpPr/>
          <p:nvPr/>
        </p:nvCxnSpPr>
        <p:spPr>
          <a:xfrm flipH="1">
            <a:off x="5086350" y="2895600"/>
            <a:ext cx="419100" cy="0"/>
          </a:xfrm>
          <a:prstGeom prst="straightConnector1">
            <a:avLst/>
          </a:prstGeom>
          <a:ln w="571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11636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CB3DA8-DC93-27E6-806D-3680F062336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40B08F3-4786-E671-D55B-0FEB87FF3A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69CC965-5A2C-B090-4704-F199001CBE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CCBB6B57-5EA4-CC4C-F19D-92D6B7F48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FD3A73DE-2C3C-AEB4-5BC7-05B4F6D33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74BDA671-2BFB-C731-1AA0-04730FA53126}"/>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Step 2: Estimate Wind Load (ASCE 7)</a:t>
            </a:r>
          </a:p>
        </p:txBody>
      </p:sp>
      <p:sp>
        <p:nvSpPr>
          <p:cNvPr id="4" name="Content Placeholder 3">
            <a:extLst>
              <a:ext uri="{FF2B5EF4-FFF2-40B4-BE49-F238E27FC236}">
                <a16:creationId xmlns:a16="http://schemas.microsoft.com/office/drawing/2014/main" id="{DC55D7F7-51ED-57C9-3B23-D924552671DF}"/>
              </a:ext>
            </a:extLst>
          </p:cNvPr>
          <p:cNvSpPr>
            <a:spLocks noGrp="1"/>
          </p:cNvSpPr>
          <p:nvPr>
            <p:ph idx="1"/>
          </p:nvPr>
        </p:nvSpPr>
        <p:spPr/>
        <p:txBody>
          <a:bodyPr/>
          <a:lstStyle/>
          <a:p>
            <a:r>
              <a:rPr lang="en-US" dirty="0"/>
              <a:t>Method 2: ASCE – 7 (The practicing professional approach)</a:t>
            </a:r>
          </a:p>
          <a:p>
            <a:endParaRPr lang="en-US" dirty="0"/>
          </a:p>
          <a:p>
            <a:pPr lvl="1"/>
            <a:r>
              <a:rPr lang="en-US" dirty="0"/>
              <a:t>Step 2 – Determine Force on the Sign</a:t>
            </a:r>
          </a:p>
          <a:p>
            <a:endParaRPr lang="en-US" dirty="0"/>
          </a:p>
        </p:txBody>
      </p:sp>
      <p:sp>
        <p:nvSpPr>
          <p:cNvPr id="3" name="TextBox 2">
            <a:extLst>
              <a:ext uri="{FF2B5EF4-FFF2-40B4-BE49-F238E27FC236}">
                <a16:creationId xmlns:a16="http://schemas.microsoft.com/office/drawing/2014/main" id="{C18FD3B4-EB6E-B01D-74BE-10FE946A1032}"/>
              </a:ext>
            </a:extLst>
          </p:cNvPr>
          <p:cNvSpPr txBox="1"/>
          <p:nvPr/>
        </p:nvSpPr>
        <p:spPr>
          <a:xfrm>
            <a:off x="1069020" y="2308037"/>
            <a:ext cx="37030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prstClr val="black"/>
                </a:solidFill>
                <a:effectLst/>
                <a:uLnTx/>
                <a:uFillTx/>
                <a:latin typeface="Aptos" panose="02110004020202020204"/>
                <a:ea typeface="+mn-ea"/>
                <a:cs typeface="+mn-cs"/>
              </a:rPr>
              <a:t>Essentially a two-step process:</a:t>
            </a:r>
          </a:p>
        </p:txBody>
      </p:sp>
      <p:pic>
        <p:nvPicPr>
          <p:cNvPr id="6" name="Picture 5">
            <a:extLst>
              <a:ext uri="{FF2B5EF4-FFF2-40B4-BE49-F238E27FC236}">
                <a16:creationId xmlns:a16="http://schemas.microsoft.com/office/drawing/2014/main" id="{AA63A08F-E009-15AF-5B01-15DD1089939F}"/>
              </a:ext>
            </a:extLst>
          </p:cNvPr>
          <p:cNvPicPr>
            <a:picLocks noChangeAspect="1"/>
          </p:cNvPicPr>
          <p:nvPr/>
        </p:nvPicPr>
        <p:blipFill>
          <a:blip r:embed="rId2"/>
          <a:stretch>
            <a:fillRect/>
          </a:stretch>
        </p:blipFill>
        <p:spPr>
          <a:xfrm>
            <a:off x="3485803" y="3538358"/>
            <a:ext cx="4972744" cy="2562583"/>
          </a:xfrm>
          <a:prstGeom prst="rect">
            <a:avLst/>
          </a:prstGeom>
        </p:spPr>
      </p:pic>
    </p:spTree>
    <p:extLst>
      <p:ext uri="{BB962C8B-B14F-4D97-AF65-F5344CB8AC3E}">
        <p14:creationId xmlns:p14="http://schemas.microsoft.com/office/powerpoint/2010/main" val="9679373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912EF7-590F-98F1-8B5E-2B17C8B4DB4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75931D-F363-EBEE-B325-87E1F899B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AADF7596-C85C-DCD5-A2C9-4463FAC56B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2CD22FBB-CF15-2211-FCFF-F2CA70BEB5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E11364C6-A1F1-01B6-737B-6F4196B50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751039D7-BFFA-5387-7953-090D69582555}"/>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Step 2: Estimate Wind Load (ASCE 7)</a:t>
            </a:r>
          </a:p>
        </p:txBody>
      </p:sp>
      <p:pic>
        <p:nvPicPr>
          <p:cNvPr id="6" name="Picture 5">
            <a:extLst>
              <a:ext uri="{FF2B5EF4-FFF2-40B4-BE49-F238E27FC236}">
                <a16:creationId xmlns:a16="http://schemas.microsoft.com/office/drawing/2014/main" id="{62E79473-90BB-89BF-DD2E-97B63E1063F9}"/>
              </a:ext>
            </a:extLst>
          </p:cNvPr>
          <p:cNvPicPr>
            <a:picLocks noChangeAspect="1"/>
          </p:cNvPicPr>
          <p:nvPr/>
        </p:nvPicPr>
        <p:blipFill>
          <a:blip r:embed="rId2"/>
          <a:srcRect r="52490" b="79736"/>
          <a:stretch>
            <a:fillRect/>
          </a:stretch>
        </p:blipFill>
        <p:spPr>
          <a:xfrm>
            <a:off x="5896033" y="3169354"/>
            <a:ext cx="2362547" cy="519292"/>
          </a:xfrm>
          <a:prstGeom prst="rect">
            <a:avLst/>
          </a:prstGeom>
        </p:spPr>
      </p:pic>
      <p:pic>
        <p:nvPicPr>
          <p:cNvPr id="8194" name="Picture 2" descr="ASCE 7-16 Fig 29.3-1">
            <a:extLst>
              <a:ext uri="{FF2B5EF4-FFF2-40B4-BE49-F238E27FC236}">
                <a16:creationId xmlns:a16="http://schemas.microsoft.com/office/drawing/2014/main" id="{4825A51F-446F-5775-15DF-D94EBF6FBE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6343"/>
          <a:stretch>
            <a:fillRect/>
          </a:stretch>
        </p:blipFill>
        <p:spPr bwMode="auto">
          <a:xfrm>
            <a:off x="773348" y="1983913"/>
            <a:ext cx="4103452" cy="446563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9B6A82D9-BA9B-12EA-B229-6687D815442C}"/>
              </a:ext>
            </a:extLst>
          </p:cNvPr>
          <p:cNvSpPr/>
          <p:nvPr/>
        </p:nvSpPr>
        <p:spPr>
          <a:xfrm>
            <a:off x="7077306" y="3200400"/>
            <a:ext cx="505560" cy="457200"/>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624550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F1A842-6E19-208E-E305-9115D45B756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A7E4990-4547-2686-7236-F850A20D67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C4725F94-CA48-821D-4CF9-E18E515B02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67756F76-401C-E0F4-00B5-034A55354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4F6F7AED-3572-BB33-131E-E0EA01429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5C8F29C-DAD9-3134-4F35-5A573798C616}"/>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Step 2: Estimate Wind Load (ASCE 7)</a:t>
            </a:r>
          </a:p>
        </p:txBody>
      </p:sp>
      <p:pic>
        <p:nvPicPr>
          <p:cNvPr id="6" name="Picture 5">
            <a:extLst>
              <a:ext uri="{FF2B5EF4-FFF2-40B4-BE49-F238E27FC236}">
                <a16:creationId xmlns:a16="http://schemas.microsoft.com/office/drawing/2014/main" id="{8BC7FFFD-5F4C-328A-B77D-D118C5E1AB3A}"/>
              </a:ext>
            </a:extLst>
          </p:cNvPr>
          <p:cNvPicPr>
            <a:picLocks noChangeAspect="1"/>
          </p:cNvPicPr>
          <p:nvPr/>
        </p:nvPicPr>
        <p:blipFill>
          <a:blip r:embed="rId2"/>
          <a:srcRect r="52490" b="79736"/>
          <a:stretch>
            <a:fillRect/>
          </a:stretch>
        </p:blipFill>
        <p:spPr>
          <a:xfrm>
            <a:off x="9486958" y="5906510"/>
            <a:ext cx="2362547" cy="519292"/>
          </a:xfrm>
          <a:prstGeom prst="rect">
            <a:avLst/>
          </a:prstGeom>
        </p:spPr>
      </p:pic>
      <p:sp>
        <p:nvSpPr>
          <p:cNvPr id="8" name="Rectangle 7">
            <a:extLst>
              <a:ext uri="{FF2B5EF4-FFF2-40B4-BE49-F238E27FC236}">
                <a16:creationId xmlns:a16="http://schemas.microsoft.com/office/drawing/2014/main" id="{F9B17277-30ED-AE73-C39E-9A3BF2412071}"/>
              </a:ext>
            </a:extLst>
          </p:cNvPr>
          <p:cNvSpPr/>
          <p:nvPr/>
        </p:nvSpPr>
        <p:spPr>
          <a:xfrm>
            <a:off x="10668231" y="5937556"/>
            <a:ext cx="505560" cy="457200"/>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10242" name="Picture 2" descr="Cf_AB">
            <a:extLst>
              <a:ext uri="{FF2B5EF4-FFF2-40B4-BE49-F238E27FC236}">
                <a16:creationId xmlns:a16="http://schemas.microsoft.com/office/drawing/2014/main" id="{320CEDC5-EF2C-BF77-98EE-E6A0D3596C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290" y="2008356"/>
            <a:ext cx="9448800" cy="27051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37C7A0D-B775-2193-1C78-C48AD159198A}"/>
              </a:ext>
            </a:extLst>
          </p:cNvPr>
          <p:cNvSpPr txBox="1"/>
          <p:nvPr/>
        </p:nvSpPr>
        <p:spPr>
          <a:xfrm>
            <a:off x="3044757" y="4960700"/>
            <a:ext cx="5671226" cy="369332"/>
          </a:xfrm>
          <a:prstGeom prst="rect">
            <a:avLst/>
          </a:prstGeom>
          <a:noFill/>
        </p:spPr>
        <p:txBody>
          <a:bodyPr wrap="square" rtlCol="0">
            <a:spAutoFit/>
          </a:bodyPr>
          <a:lstStyle/>
          <a:p>
            <a:r>
              <a:rPr lang="en-US" dirty="0"/>
              <a:t>Use appropriate values for s/h and B/s for our STOP sign</a:t>
            </a:r>
          </a:p>
        </p:txBody>
      </p:sp>
    </p:spTree>
    <p:extLst>
      <p:ext uri="{BB962C8B-B14F-4D97-AF65-F5344CB8AC3E}">
        <p14:creationId xmlns:p14="http://schemas.microsoft.com/office/powerpoint/2010/main" val="3307326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BD7F91-96AC-FF8D-B917-F3B90D2D03E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3ADBF5C-B977-CBA4-106C-46AD701AF3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892373D7-F8E0-2BCC-714C-24879574C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CE1FDA09-E97D-B42A-68C6-FB19812D1B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71219871-6EB4-7EBF-1D72-2368B9475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0DC2A1A-FB71-AEAD-806F-E1158D3BFBB0}"/>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Step 2: Estimate Wind Load (ASCE 7)</a:t>
            </a:r>
          </a:p>
        </p:txBody>
      </p:sp>
      <p:grpSp>
        <p:nvGrpSpPr>
          <p:cNvPr id="5" name="Group 4">
            <a:extLst>
              <a:ext uri="{FF2B5EF4-FFF2-40B4-BE49-F238E27FC236}">
                <a16:creationId xmlns:a16="http://schemas.microsoft.com/office/drawing/2014/main" id="{F54B25C5-49D8-6B51-446E-0A9DC6B6CD48}"/>
              </a:ext>
            </a:extLst>
          </p:cNvPr>
          <p:cNvGrpSpPr/>
          <p:nvPr/>
        </p:nvGrpSpPr>
        <p:grpSpPr>
          <a:xfrm>
            <a:off x="1028179" y="4561742"/>
            <a:ext cx="2362547" cy="532180"/>
            <a:chOff x="9486958" y="5893622"/>
            <a:chExt cx="2362547" cy="532180"/>
          </a:xfrm>
        </p:grpSpPr>
        <p:pic>
          <p:nvPicPr>
            <p:cNvPr id="6" name="Picture 5">
              <a:extLst>
                <a:ext uri="{FF2B5EF4-FFF2-40B4-BE49-F238E27FC236}">
                  <a16:creationId xmlns:a16="http://schemas.microsoft.com/office/drawing/2014/main" id="{B4A45D43-F797-EE3E-E688-DB8DFD6D2F37}"/>
                </a:ext>
              </a:extLst>
            </p:cNvPr>
            <p:cNvPicPr>
              <a:picLocks noChangeAspect="1"/>
            </p:cNvPicPr>
            <p:nvPr/>
          </p:nvPicPr>
          <p:blipFill>
            <a:blip r:embed="rId2"/>
            <a:srcRect r="52490" b="79736"/>
            <a:stretch>
              <a:fillRect/>
            </a:stretch>
          </p:blipFill>
          <p:spPr>
            <a:xfrm>
              <a:off x="9486958" y="5906510"/>
              <a:ext cx="2362547" cy="519292"/>
            </a:xfrm>
            <a:prstGeom prst="rect">
              <a:avLst/>
            </a:prstGeom>
          </p:spPr>
        </p:pic>
        <p:sp>
          <p:nvSpPr>
            <p:cNvPr id="8" name="Rectangle 7">
              <a:extLst>
                <a:ext uri="{FF2B5EF4-FFF2-40B4-BE49-F238E27FC236}">
                  <a16:creationId xmlns:a16="http://schemas.microsoft.com/office/drawing/2014/main" id="{B51F5155-501C-74BD-FF67-911AA2DBAAFC}"/>
                </a:ext>
              </a:extLst>
            </p:cNvPr>
            <p:cNvSpPr/>
            <p:nvPr/>
          </p:nvSpPr>
          <p:spPr>
            <a:xfrm>
              <a:off x="10269397" y="5893622"/>
              <a:ext cx="505560" cy="457200"/>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3" name="TextBox 2">
            <a:extLst>
              <a:ext uri="{FF2B5EF4-FFF2-40B4-BE49-F238E27FC236}">
                <a16:creationId xmlns:a16="http://schemas.microsoft.com/office/drawing/2014/main" id="{20D446E3-ABA9-3224-E922-3C074594118B}"/>
              </a:ext>
            </a:extLst>
          </p:cNvPr>
          <p:cNvSpPr txBox="1"/>
          <p:nvPr/>
        </p:nvSpPr>
        <p:spPr>
          <a:xfrm>
            <a:off x="880353" y="5421963"/>
            <a:ext cx="2811294" cy="369332"/>
          </a:xfrm>
          <a:prstGeom prst="rect">
            <a:avLst/>
          </a:prstGeom>
          <a:noFill/>
        </p:spPr>
        <p:txBody>
          <a:bodyPr wrap="square" rtlCol="0">
            <a:spAutoFit/>
          </a:bodyPr>
          <a:lstStyle/>
          <a:p>
            <a:r>
              <a:rPr lang="en-US" dirty="0"/>
              <a:t>Use 0.85 for our STOP sign</a:t>
            </a:r>
          </a:p>
        </p:txBody>
      </p:sp>
      <p:sp>
        <p:nvSpPr>
          <p:cNvPr id="4" name="TextBox 3">
            <a:extLst>
              <a:ext uri="{FF2B5EF4-FFF2-40B4-BE49-F238E27FC236}">
                <a16:creationId xmlns:a16="http://schemas.microsoft.com/office/drawing/2014/main" id="{80E39E82-4BF1-DB85-F311-93A8BA1F2D0C}"/>
              </a:ext>
            </a:extLst>
          </p:cNvPr>
          <p:cNvSpPr txBox="1"/>
          <p:nvPr/>
        </p:nvSpPr>
        <p:spPr>
          <a:xfrm>
            <a:off x="379379" y="1916349"/>
            <a:ext cx="9572017" cy="646331"/>
          </a:xfrm>
          <a:prstGeom prst="rect">
            <a:avLst/>
          </a:prstGeom>
          <a:noFill/>
        </p:spPr>
        <p:txBody>
          <a:bodyPr wrap="square" rtlCol="0">
            <a:spAutoFit/>
          </a:bodyPr>
          <a:lstStyle/>
          <a:p>
            <a:r>
              <a:rPr lang="en-US" dirty="0"/>
              <a:t>For “Rigid” buildings or other structures, </a:t>
            </a:r>
            <a:br>
              <a:rPr lang="en-US" dirty="0"/>
            </a:br>
            <a:r>
              <a:rPr lang="en-US" dirty="0"/>
              <a:t>use G = 0.85</a:t>
            </a:r>
          </a:p>
        </p:txBody>
      </p:sp>
      <p:pic>
        <p:nvPicPr>
          <p:cNvPr id="11266" name="Picture 2" descr="Data collected during Hurricane Laura presents major benefits in  engineering, atmospheric science fields">
            <a:extLst>
              <a:ext uri="{FF2B5EF4-FFF2-40B4-BE49-F238E27FC236}">
                <a16:creationId xmlns:a16="http://schemas.microsoft.com/office/drawing/2014/main" id="{551155DB-C033-DC3D-9D8A-C00DAD4849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692607"/>
            <a:ext cx="7620000" cy="50482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1ECA150-B763-619C-3B93-C4EC9B5303B5}"/>
              </a:ext>
            </a:extLst>
          </p:cNvPr>
          <p:cNvSpPr txBox="1"/>
          <p:nvPr/>
        </p:nvSpPr>
        <p:spPr>
          <a:xfrm>
            <a:off x="379379" y="2808935"/>
            <a:ext cx="3240122" cy="923330"/>
          </a:xfrm>
          <a:prstGeom prst="rect">
            <a:avLst/>
          </a:prstGeom>
          <a:noFill/>
        </p:spPr>
        <p:txBody>
          <a:bodyPr wrap="square" rtlCol="0">
            <a:spAutoFit/>
          </a:bodyPr>
          <a:lstStyle/>
          <a:p>
            <a:r>
              <a:rPr lang="en-US" dirty="0"/>
              <a:t>What is “Rigid”?</a:t>
            </a:r>
          </a:p>
          <a:p>
            <a:endParaRPr lang="en-US" dirty="0"/>
          </a:p>
          <a:p>
            <a:r>
              <a:rPr lang="en-US" dirty="0"/>
              <a:t>Fundamental frequency &gt; 1 Hz</a:t>
            </a:r>
          </a:p>
        </p:txBody>
      </p:sp>
    </p:spTree>
    <p:extLst>
      <p:ext uri="{BB962C8B-B14F-4D97-AF65-F5344CB8AC3E}">
        <p14:creationId xmlns:p14="http://schemas.microsoft.com/office/powerpoint/2010/main" val="3078385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C61E1-7018-9227-961B-7FCECC26790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706073C-FF2F-F4BD-36FA-3F86CDACFCB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09667" y="287371"/>
            <a:ext cx="6372665" cy="6283258"/>
          </a:xfrm>
          <a:prstGeom prst="rect">
            <a:avLst/>
          </a:prstGeom>
        </p:spPr>
      </p:pic>
    </p:spTree>
    <p:extLst>
      <p:ext uri="{BB962C8B-B14F-4D97-AF65-F5344CB8AC3E}">
        <p14:creationId xmlns:p14="http://schemas.microsoft.com/office/powerpoint/2010/main" val="1667935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C93C39-7961-F13C-9D1D-50D4059E7B4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2C580E6-20A1-BCE0-982A-D45F7A06D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79A7F431-D599-9CFC-4AC8-65789BAF1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3B84625-35FF-FFFD-52BA-7AA5B6E3D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DF0A14EF-A6A3-E41A-1BA1-54022AC5DA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6E50B9A-F717-5905-E538-948205D6F4A6}"/>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Step 2: Estimate Wind Load (CFD – if you dare!)</a:t>
            </a:r>
          </a:p>
        </p:txBody>
      </p:sp>
      <p:pic>
        <p:nvPicPr>
          <p:cNvPr id="10" name="Picture 9">
            <a:extLst>
              <a:ext uri="{FF2B5EF4-FFF2-40B4-BE49-F238E27FC236}">
                <a16:creationId xmlns:a16="http://schemas.microsoft.com/office/drawing/2014/main" id="{B07FDCCB-5A30-91C4-2F2A-4D79190B8ABF}"/>
              </a:ext>
            </a:extLst>
          </p:cNvPr>
          <p:cNvPicPr>
            <a:picLocks noChangeAspect="1"/>
          </p:cNvPicPr>
          <p:nvPr/>
        </p:nvPicPr>
        <p:blipFill>
          <a:blip r:embed="rId2"/>
          <a:stretch>
            <a:fillRect/>
          </a:stretch>
        </p:blipFill>
        <p:spPr>
          <a:xfrm>
            <a:off x="2144299" y="1575459"/>
            <a:ext cx="7903401" cy="5268934"/>
          </a:xfrm>
          <a:prstGeom prst="rect">
            <a:avLst/>
          </a:prstGeom>
        </p:spPr>
      </p:pic>
    </p:spTree>
    <p:extLst>
      <p:ext uri="{BB962C8B-B14F-4D97-AF65-F5344CB8AC3E}">
        <p14:creationId xmlns:p14="http://schemas.microsoft.com/office/powerpoint/2010/main" val="16200756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830675-16DC-751C-446B-16B402D124F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F7D29EF-957A-9951-9D51-96FC2E47D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27239DE1-887B-BF5E-3A01-C331B4260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69477A53-8305-C570-802C-3E170A908C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9A07AB93-B1D8-5A7E-9DD7-6289DF1E3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122154C-1764-8459-32ED-F457CAEEF78A}"/>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Step 2: Estimate Wind Load (AI)</a:t>
            </a:r>
          </a:p>
        </p:txBody>
      </p:sp>
      <p:sp>
        <p:nvSpPr>
          <p:cNvPr id="3" name="TextBox 2">
            <a:extLst>
              <a:ext uri="{FF2B5EF4-FFF2-40B4-BE49-F238E27FC236}">
                <a16:creationId xmlns:a16="http://schemas.microsoft.com/office/drawing/2014/main" id="{68974F9D-1A9E-BF3D-9698-F041DB2D3768}"/>
              </a:ext>
            </a:extLst>
          </p:cNvPr>
          <p:cNvSpPr txBox="1"/>
          <p:nvPr/>
        </p:nvSpPr>
        <p:spPr>
          <a:xfrm>
            <a:off x="1371597" y="2133600"/>
            <a:ext cx="8458203" cy="369332"/>
          </a:xfrm>
          <a:prstGeom prst="rect">
            <a:avLst/>
          </a:prstGeom>
          <a:noFill/>
        </p:spPr>
        <p:txBody>
          <a:bodyPr wrap="square" rtlCol="0">
            <a:spAutoFit/>
          </a:bodyPr>
          <a:lstStyle/>
          <a:p>
            <a:r>
              <a:rPr lang="en-US" dirty="0"/>
              <a:t>Use your favorite AI tool to </a:t>
            </a:r>
            <a:r>
              <a:rPr lang="en-US" b="1" dirty="0"/>
              <a:t>VALIDATE </a:t>
            </a:r>
            <a:r>
              <a:rPr lang="en-US" dirty="0"/>
              <a:t>your hand calculations.</a:t>
            </a:r>
          </a:p>
        </p:txBody>
      </p:sp>
    </p:spTree>
    <p:extLst>
      <p:ext uri="{BB962C8B-B14F-4D97-AF65-F5344CB8AC3E}">
        <p14:creationId xmlns:p14="http://schemas.microsoft.com/office/powerpoint/2010/main" val="1164057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71EA9A-4184-AD51-9142-BBC017DA009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120D9F-ED46-4F26-AFE5-78BDD8EBFE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CEFEA124-293E-6FAF-4A1F-3855D86E9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A337EFF7-1FA3-3915-A9AB-FD58580F6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77D3902D-6E95-D5D1-3340-BBA6F94F9E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F65E0CB-002B-512F-635F-940031E9CD64}"/>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Step 2: Choose Final Wind Load</a:t>
            </a:r>
          </a:p>
        </p:txBody>
      </p:sp>
      <p:sp>
        <p:nvSpPr>
          <p:cNvPr id="3" name="TextBox 2">
            <a:extLst>
              <a:ext uri="{FF2B5EF4-FFF2-40B4-BE49-F238E27FC236}">
                <a16:creationId xmlns:a16="http://schemas.microsoft.com/office/drawing/2014/main" id="{89426AAF-E555-8C2F-9037-F076B582B22F}"/>
              </a:ext>
            </a:extLst>
          </p:cNvPr>
          <p:cNvSpPr txBox="1"/>
          <p:nvPr/>
        </p:nvSpPr>
        <p:spPr>
          <a:xfrm>
            <a:off x="1371597" y="2133600"/>
            <a:ext cx="8458203" cy="923330"/>
          </a:xfrm>
          <a:prstGeom prst="rect">
            <a:avLst/>
          </a:prstGeom>
          <a:noFill/>
        </p:spPr>
        <p:txBody>
          <a:bodyPr wrap="square" rtlCol="0">
            <a:spAutoFit/>
          </a:bodyPr>
          <a:lstStyle/>
          <a:p>
            <a:r>
              <a:rPr lang="en-US" dirty="0"/>
              <a:t>Choose your design wind load that you will use for the remainder of the project.</a:t>
            </a:r>
          </a:p>
          <a:p>
            <a:endParaRPr lang="en-US" dirty="0"/>
          </a:p>
          <a:p>
            <a:r>
              <a:rPr lang="en-US" dirty="0"/>
              <a:t>F = 164lbs (ASCE 7 Value)</a:t>
            </a:r>
          </a:p>
        </p:txBody>
      </p:sp>
    </p:spTree>
    <p:extLst>
      <p:ext uri="{BB962C8B-B14F-4D97-AF65-F5344CB8AC3E}">
        <p14:creationId xmlns:p14="http://schemas.microsoft.com/office/powerpoint/2010/main" val="23476296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E2439-7188-D131-50C9-40EB72AAF8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6B4AD8-A380-CFD5-115C-37C3D0DE02F5}"/>
              </a:ext>
            </a:extLst>
          </p:cNvPr>
          <p:cNvSpPr>
            <a:spLocks noGrp="1"/>
          </p:cNvSpPr>
          <p:nvPr>
            <p:ph type="title"/>
          </p:nvPr>
        </p:nvSpPr>
        <p:spPr>
          <a:xfrm>
            <a:off x="785621" y="561963"/>
            <a:ext cx="10635235" cy="1297115"/>
          </a:xfrm>
        </p:spPr>
        <p:txBody>
          <a:bodyPr vert="horz" lIns="91440" tIns="45720" rIns="91440" bIns="45720" rtlCol="0" anchor="t">
            <a:normAutofit fontScale="90000"/>
          </a:bodyPr>
          <a:lstStyle/>
          <a:p>
            <a:r>
              <a:rPr lang="en-US" sz="4000" kern="1200" dirty="0">
                <a:solidFill>
                  <a:schemeClr val="tx2"/>
                </a:solidFill>
                <a:latin typeface="+mj-lt"/>
                <a:ea typeface="+mj-ea"/>
                <a:cs typeface="+mj-cs"/>
              </a:rPr>
              <a:t>Insert Your Wind Load Summary Here</a:t>
            </a:r>
            <a:r>
              <a:rPr lang="en-US" sz="4000" dirty="0">
                <a:solidFill>
                  <a:schemeClr val="tx2"/>
                </a:solidFill>
              </a:rPr>
              <a:t>.  </a:t>
            </a:r>
            <a:br>
              <a:rPr lang="en-US" sz="4000" dirty="0">
                <a:solidFill>
                  <a:schemeClr val="tx2"/>
                </a:solidFill>
              </a:rPr>
            </a:br>
            <a:br>
              <a:rPr lang="en-US" sz="4000" dirty="0">
                <a:solidFill>
                  <a:schemeClr val="tx2"/>
                </a:solidFill>
              </a:rPr>
            </a:br>
            <a:r>
              <a:rPr lang="en-US" sz="2200" dirty="0">
                <a:solidFill>
                  <a:schemeClr val="tx2"/>
                </a:solidFill>
              </a:rPr>
              <a:t>For the bluff body calculation: the force was calculated to be 273.3 </a:t>
            </a:r>
            <a:r>
              <a:rPr lang="en-US" sz="2200" dirty="0" err="1">
                <a:solidFill>
                  <a:schemeClr val="tx2"/>
                </a:solidFill>
              </a:rPr>
              <a:t>lbs</a:t>
            </a:r>
            <a:r>
              <a:rPr lang="en-US" sz="2200" dirty="0">
                <a:solidFill>
                  <a:schemeClr val="tx2"/>
                </a:solidFill>
              </a:rPr>
              <a:t> and for the ASCE 7 method: the velocity was calculated to be 164.2 lbs. The two values have a percentage difference of approximately 50%. The Ai tool I used was Gemini, it also got a value of 164 </a:t>
            </a:r>
            <a:r>
              <a:rPr lang="en-US" sz="2200" dirty="0" err="1">
                <a:solidFill>
                  <a:schemeClr val="tx2"/>
                </a:solidFill>
              </a:rPr>
              <a:t>lbs</a:t>
            </a:r>
            <a:r>
              <a:rPr lang="en-US" sz="2200" dirty="0">
                <a:solidFill>
                  <a:schemeClr val="tx2"/>
                </a:solidFill>
              </a:rPr>
              <a:t> for the ASCE 7 method after plugging in the actual parameters specified, especially for the base pressure calculations. For the bluff body </a:t>
            </a:r>
            <a:r>
              <a:rPr lang="en-US" sz="2200" dirty="0" err="1">
                <a:solidFill>
                  <a:schemeClr val="tx2"/>
                </a:solidFill>
              </a:rPr>
              <a:t>body</a:t>
            </a:r>
            <a:r>
              <a:rPr lang="en-US" sz="2200" dirty="0">
                <a:solidFill>
                  <a:schemeClr val="tx2"/>
                </a:solidFill>
              </a:rPr>
              <a:t> method, it got a value of 273.9lbs. However, it did not that the calculations for the pole area may be wrong, but agreed that if I only accounted for the exposed part of the pole, my calculations are good.</a:t>
            </a:r>
            <a:br>
              <a:rPr lang="en-US" sz="2200" dirty="0">
                <a:solidFill>
                  <a:schemeClr val="tx2"/>
                </a:solidFill>
              </a:rPr>
            </a:br>
            <a:br>
              <a:rPr lang="en-US" sz="2200" dirty="0">
                <a:solidFill>
                  <a:schemeClr val="tx2"/>
                </a:solidFill>
              </a:rPr>
            </a:br>
            <a:r>
              <a:rPr lang="en-US" sz="2200" dirty="0">
                <a:solidFill>
                  <a:schemeClr val="tx2"/>
                </a:solidFill>
              </a:rPr>
              <a:t>I will be proceeding with the ASCE 7 method because unlike the bluff body calculations, this method accounts for the boundary layer effect, meaning that this method accounts for the friction from the ground or trees or buildings that could interfere with the wind flow. Also, since the bluff body calculation overestimates the force the sign is to withstand, it can cost more to produce. In addition, the bluff body equation does not account for the vibration of the sign  nor does it account for the stiffness of the sign.</a:t>
            </a:r>
            <a:br>
              <a:rPr lang="en-US" sz="2200" dirty="0">
                <a:solidFill>
                  <a:schemeClr val="tx2"/>
                </a:solidFill>
              </a:rPr>
            </a:br>
            <a:endParaRPr lang="en-US" sz="2200" kern="1200" dirty="0">
              <a:solidFill>
                <a:schemeClr val="tx2"/>
              </a:solidFill>
              <a:latin typeface="+mj-lt"/>
              <a:ea typeface="+mj-ea"/>
              <a:cs typeface="+mj-cs"/>
            </a:endParaRPr>
          </a:p>
        </p:txBody>
      </p:sp>
    </p:spTree>
    <p:extLst>
      <p:ext uri="{BB962C8B-B14F-4D97-AF65-F5344CB8AC3E}">
        <p14:creationId xmlns:p14="http://schemas.microsoft.com/office/powerpoint/2010/main" val="20283456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14904</TotalTime>
  <Words>1229</Words>
  <Application>Microsoft Office PowerPoint</Application>
  <PresentationFormat>Widescreen</PresentationFormat>
  <Paragraphs>95</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Avenir Next LT Pro</vt:lpstr>
      <vt:lpstr>Office Theme</vt:lpstr>
      <vt:lpstr> Mini-Project #2 Application of Finite Element Analysis to a Simple Structural System</vt:lpstr>
      <vt:lpstr>Context</vt:lpstr>
      <vt:lpstr>But, what if?</vt:lpstr>
      <vt:lpstr>Steps to Completion</vt:lpstr>
      <vt:lpstr>Step 1: Measure a Stop Sign</vt:lpstr>
      <vt:lpstr>PowerPoint Presentation</vt:lpstr>
      <vt:lpstr>Does the sign meet Daytona Beach Standards</vt:lpstr>
      <vt:lpstr>PowerPoint Presentation</vt:lpstr>
      <vt:lpstr>PowerPoint Presentation</vt:lpstr>
      <vt:lpstr>Step 2: Estimate Wind Load</vt:lpstr>
      <vt:lpstr>Step 2: Estimate Wind Load</vt:lpstr>
      <vt:lpstr>PowerPoint Presentation</vt:lpstr>
      <vt:lpstr>Step 2: Estimate Wind Load</vt:lpstr>
      <vt:lpstr>Step 2: Estimate Wind Load (ASCE 7)</vt:lpstr>
      <vt:lpstr>PowerPoint Presentation</vt:lpstr>
      <vt:lpstr>PowerPoint Presentation</vt:lpstr>
      <vt:lpstr>PowerPoint Presentation</vt:lpstr>
      <vt:lpstr>PowerPoint Presentation</vt:lpstr>
      <vt:lpstr>PowerPoint Presentation</vt:lpstr>
      <vt:lpstr>Boundary Layer Models</vt:lpstr>
      <vt:lpstr>PowerPoint Presentation</vt:lpstr>
      <vt:lpstr>PowerPoint Presentation</vt:lpstr>
      <vt:lpstr>PowerPoint Presentation</vt:lpstr>
      <vt:lpstr>PowerPoint Presentation</vt:lpstr>
      <vt:lpstr>Step 2: Estimate Wind Load (ASCE 7)</vt:lpstr>
      <vt:lpstr>Step 2: Estimate Wind Load (ASCE 7)</vt:lpstr>
      <vt:lpstr>Step 2: Estimate Wind Load (ASCE 7)</vt:lpstr>
      <vt:lpstr>Step 2: Estimate Wind Load (ASCE 7)</vt:lpstr>
      <vt:lpstr>PowerPoint Presentation</vt:lpstr>
      <vt:lpstr>Step 2: Estimate Wind Load (CFD – if you dare!)</vt:lpstr>
      <vt:lpstr>Step 2: Estimate Wind Load (AI)</vt:lpstr>
      <vt:lpstr>Step 2: Choose Final Wind Load</vt:lpstr>
      <vt:lpstr>Insert Your Wind Load Summary Here.    For the bluff body calculation: the force was calculated to be 273.3 lbs and for the ASCE 7 method: the velocity was calculated to be 164.2 lbs. The two values have a percentage difference of approximately 50%. The Ai tool I used was Gemini, it also got a value of 164 lbs for the ASCE 7 method after plugging in the actual parameters specified, especially for the base pressure calculations. For the bluff body body method, it got a value of 273.9lbs. However, it did not that the calculations for the pole area may be wrong, but agreed that if I only accounted for the exposed part of the pole, my calculations are good.  I will be proceeding with the ASCE 7 method because unlike the bluff body calculations, this method accounts for the boundary layer effect, meaning that this method accounts for the friction from the ground or trees or buildings that could interfere with the wind flow. Also, since the bluff body calculation overestimates the force the sign is to withstand, it can cost more to produce. In addition, the bluff body equation does not account for the vibration of the sign  nor does it account for the stiffness of the sign. </vt:lpstr>
    </vt:vector>
  </TitlesOfParts>
  <Company>ERAU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Brown, Jeff R.</dc:creator>
  <cp:lastModifiedBy>Ibishomi, Barakkah Ibitola I.</cp:lastModifiedBy>
  <cp:revision>8</cp:revision>
  <cp:lastPrinted>2026-04-01T04:55:58Z</cp:lastPrinted>
  <dcterms:created xsi:type="dcterms:W3CDTF">2026-01-12T18:13:03Z</dcterms:created>
  <dcterms:modified xsi:type="dcterms:W3CDTF">2026-06-15T20:33:04Z</dcterms:modified>
</cp:coreProperties>
</file>